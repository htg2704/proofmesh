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3dac0115e2488d" /><Relationship Type="http://schemas.openxmlformats.org/officeDocument/2006/relationships/extended-properties" Target="/docProps/app.xml" Id="Rd98ffccafc544190" /><Relationship Type="http://schemas.openxmlformats.org/officeDocument/2006/relationships/officeDocument" Target="/ppt/presentation.xml" Id="Rf0b6e50dee654baf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e4bc1de629de46f8"/>
  </p:sldMasterIdLst>
  <p:notesMasterIdLst>
    <p:notesMasterId xmlns:r="http://schemas.openxmlformats.org/officeDocument/2006/relationships" r:id="Rd435430dcdf34d0b"/>
  </p:notesMasterIdLst>
  <p:sldIdLst>
    <p:sldId xmlns:r="http://schemas.openxmlformats.org/officeDocument/2006/relationships" id="256" r:id="Rbd137b9a09ac438d"/>
    <p:sldId xmlns:r="http://schemas.openxmlformats.org/officeDocument/2006/relationships" id="257" r:id="R52a45913ed2449d2"/>
    <p:sldId xmlns:r="http://schemas.openxmlformats.org/officeDocument/2006/relationships" id="258" r:id="Rcb3a967721574235"/>
    <p:sldId xmlns:r="http://schemas.openxmlformats.org/officeDocument/2006/relationships" id="259" r:id="R3f429bf588e94d00"/>
    <p:sldId xmlns:r="http://schemas.openxmlformats.org/officeDocument/2006/relationships" id="260" r:id="R572334a3a85a4bb5"/>
    <p:sldId xmlns:r="http://schemas.openxmlformats.org/officeDocument/2006/relationships" id="261" r:id="Ra4910dd7c73d4aa9"/>
    <p:sldId xmlns:r="http://schemas.openxmlformats.org/officeDocument/2006/relationships" id="262" r:id="R43293a7345a74eb8"/>
    <p:sldId xmlns:r="http://schemas.openxmlformats.org/officeDocument/2006/relationships" id="263" r:id="Rf57360fced634fe9"/>
    <p:sldId xmlns:r="http://schemas.openxmlformats.org/officeDocument/2006/relationships" id="264" r:id="R138a634be06d4499"/>
    <p:sldId xmlns:r="http://schemas.openxmlformats.org/officeDocument/2006/relationships" id="265" r:id="Rc39020cbc9214746"/>
    <p:sldId xmlns:r="http://schemas.openxmlformats.org/officeDocument/2006/relationships" id="266" r:id="Rc895dc12c5074e9d"/>
    <p:sldId xmlns:r="http://schemas.openxmlformats.org/officeDocument/2006/relationships" id="267" r:id="R2506e08e0dcc484e"/>
    <p:sldId xmlns:r="http://schemas.openxmlformats.org/officeDocument/2006/relationships" id="268" r:id="Rf5a176f90fa74f08"/>
    <p:sldId xmlns:r="http://schemas.openxmlformats.org/officeDocument/2006/relationships" id="269" r:id="Rbe037342f1504844"/>
    <p:sldId xmlns:r="http://schemas.openxmlformats.org/officeDocument/2006/relationships" id="270" r:id="Rf70cc3dc25f94bc4"/>
  </p:sldIdLst>
  <p:sldSz cx="9144000" cy="5143500"/>
  <p:notesSz cx="6858000" cy="9144000"/>
  <p:embeddedFontLst>
    <p:embeddedFont>
      <p:font typeface="Google Sans Flex Medium"/>
      <p:regular xmlns:r="http://schemas.openxmlformats.org/officeDocument/2006/relationships" r:id="R49b6a91bb2b046c8"/>
      <p:bold xmlns:r="http://schemas.openxmlformats.org/officeDocument/2006/relationships" r:id="Rd79294c03eaf4dc1"/>
    </p:embeddedFont>
    <p:embeddedFont>
      <p:font typeface="Google Sans Flex"/>
      <p:regular xmlns:r="http://schemas.openxmlformats.org/officeDocument/2006/relationships" r:id="R2ea078b8201f4c86"/>
      <p:bold xmlns:r="http://schemas.openxmlformats.org/officeDocument/2006/relationships" r:id="Rd3637cf6ca1f4db9"/>
    </p:embeddedFont>
    <p:embeddedFont>
      <p:font typeface="Google Sans Flex SemiBold"/>
      <p:regular xmlns:r="http://schemas.openxmlformats.org/officeDocument/2006/relationships" r:id="R98d81f1897614e5a"/>
      <p:bold xmlns:r="http://schemas.openxmlformats.org/officeDocument/2006/relationships" r:id="R1e232f9711f14bbe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d2d71644004e24" /><Relationship Type="http://schemas.openxmlformats.org/officeDocument/2006/relationships/slideMaster" Target="/ppt/slideMasters/slideMaster1.xml" Id="Re4bc1de629de46f8" /><Relationship Type="http://schemas.openxmlformats.org/officeDocument/2006/relationships/notesMaster" Target="/ppt/notesMasters/notesMaster1.xml" Id="Rd435430dcdf34d0b" /><Relationship Type="http://schemas.openxmlformats.org/officeDocument/2006/relationships/presProps" Target="/ppt/presProps.xml" Id="R8eb53f5ae51f4767" /><Relationship Type="http://schemas.openxmlformats.org/officeDocument/2006/relationships/viewProps" Target="/ppt/viewProps.xml" Id="Rbe10eb0c27114c82" /><Relationship Type="http://schemas.openxmlformats.org/officeDocument/2006/relationships/tableStyles" Target="/ppt/tableStyles.xml" Id="R9f655a3723fa404b" /><Relationship Type="http://schemas.openxmlformats.org/officeDocument/2006/relationships/font" Target="/ppt/fonts/font.dat" Id="R49b6a91bb2b046c8" /><Relationship Type="http://schemas.openxmlformats.org/officeDocument/2006/relationships/font" Target="/ppt/fonts/font2.dat" Id="Rd79294c03eaf4dc1" /><Relationship Type="http://schemas.openxmlformats.org/officeDocument/2006/relationships/font" Target="/ppt/fonts/font3.dat" Id="R2ea078b8201f4c86" /><Relationship Type="http://schemas.openxmlformats.org/officeDocument/2006/relationships/font" Target="/ppt/fonts/font4.dat" Id="Rd3637cf6ca1f4db9" /><Relationship Type="http://schemas.openxmlformats.org/officeDocument/2006/relationships/font" Target="/ppt/fonts/font5.dat" Id="R98d81f1897614e5a" /><Relationship Type="http://schemas.openxmlformats.org/officeDocument/2006/relationships/font" Target="/ppt/fonts/font6.dat" Id="R1e232f9711f14bbe" /><Relationship Type="http://schemas.openxmlformats.org/officeDocument/2006/relationships/slide" Target="/ppt/slides/slide1.xml" Id="Rbd137b9a09ac438d" /><Relationship Type="http://schemas.openxmlformats.org/officeDocument/2006/relationships/slide" Target="/ppt/slides/slide2.xml" Id="R52a45913ed2449d2" /><Relationship Type="http://schemas.openxmlformats.org/officeDocument/2006/relationships/slide" Target="/ppt/slides/slide3.xml" Id="Rcb3a967721574235" /><Relationship Type="http://schemas.openxmlformats.org/officeDocument/2006/relationships/slide" Target="/ppt/slides/slide4.xml" Id="R3f429bf588e94d00" /><Relationship Type="http://schemas.openxmlformats.org/officeDocument/2006/relationships/slide" Target="/ppt/slides/slide5.xml" Id="R572334a3a85a4bb5" /><Relationship Type="http://schemas.openxmlformats.org/officeDocument/2006/relationships/slide" Target="/ppt/slides/slide6.xml" Id="Ra4910dd7c73d4aa9" /><Relationship Type="http://schemas.openxmlformats.org/officeDocument/2006/relationships/slide" Target="/ppt/slides/slide7.xml" Id="R43293a7345a74eb8" /><Relationship Type="http://schemas.openxmlformats.org/officeDocument/2006/relationships/slide" Target="/ppt/slides/slide8.xml" Id="Rf57360fced634fe9" /><Relationship Type="http://schemas.openxmlformats.org/officeDocument/2006/relationships/slide" Target="/ppt/slides/slide9.xml" Id="R138a634be06d4499" /><Relationship Type="http://schemas.openxmlformats.org/officeDocument/2006/relationships/slide" Target="/ppt/slides/slide10.xml" Id="Rc39020cbc9214746" /><Relationship Type="http://schemas.openxmlformats.org/officeDocument/2006/relationships/slide" Target="/ppt/slides/slide11.xml" Id="Rc895dc12c5074e9d" /><Relationship Type="http://schemas.openxmlformats.org/officeDocument/2006/relationships/slide" Target="/ppt/slides/slide12.xml" Id="R2506e08e0dcc484e" /><Relationship Type="http://schemas.openxmlformats.org/officeDocument/2006/relationships/slide" Target="/ppt/slides/slide13.xml" Id="Rf5a176f90fa74f08" /><Relationship Type="http://schemas.openxmlformats.org/officeDocument/2006/relationships/slide" Target="/ppt/slides/slide14.xml" Id="Rbe037342f1504844" /><Relationship Type="http://schemas.openxmlformats.org/officeDocument/2006/relationships/slide" Target="/ppt/slides/slide15.xml" Id="Rf70cc3dc25f94b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4b5bbe303044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f80e8e32ff4902" /><Relationship Type="http://schemas.openxmlformats.org/officeDocument/2006/relationships/notesMaster" Target="/ppt/notesMasters/notesMaster1.xml" Id="R6da74591fb6647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b729aaef8c4dd9" /><Relationship Type="http://schemas.openxmlformats.org/officeDocument/2006/relationships/notesMaster" Target="/ppt/notesMasters/notesMaster1.xml" Id="R7641ba61d8244a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18bd86a30a43b7" /><Relationship Type="http://schemas.openxmlformats.org/officeDocument/2006/relationships/notesMaster" Target="/ppt/notesMasters/notesMaster1.xml" Id="R7de2543016b842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856600acbd4683" /><Relationship Type="http://schemas.openxmlformats.org/officeDocument/2006/relationships/notesMaster" Target="/ppt/notesMasters/notesMaster1.xml" Id="R569184fee1fb45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a6970a903546ec" /><Relationship Type="http://schemas.openxmlformats.org/officeDocument/2006/relationships/notesMaster" Target="/ppt/notesMasters/notesMaster1.xml" Id="R76374e4492c547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6b73ca13da4492" /><Relationship Type="http://schemas.openxmlformats.org/officeDocument/2006/relationships/notesMaster" Target="/ppt/notesMasters/notesMaster1.xml" Id="R06031afacb014e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0834aed4d74594" /><Relationship Type="http://schemas.openxmlformats.org/officeDocument/2006/relationships/notesMaster" Target="/ppt/notesMasters/notesMaster1.xml" Id="R0df1c56fdc5341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b28f47f243467e" /><Relationship Type="http://schemas.openxmlformats.org/officeDocument/2006/relationships/notesMaster" Target="/ppt/notesMasters/notesMaster1.xml" Id="R93e74b3da2054f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800186c3402460f" /><Relationship Type="http://schemas.openxmlformats.org/officeDocument/2006/relationships/notesMaster" Target="/ppt/notesMasters/notesMaster1.xml" Id="R08137521c81040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c364e63a8a4bd3" /><Relationship Type="http://schemas.openxmlformats.org/officeDocument/2006/relationships/notesMaster" Target="/ppt/notesMasters/notesMaster1.xml" Id="Rfe1ecd0810b446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fd5587abc3b4cd0" /><Relationship Type="http://schemas.openxmlformats.org/officeDocument/2006/relationships/notesMaster" Target="/ppt/notesMasters/notesMaster1.xml" Id="R4c4f7d1663ca479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dd887909094c20" /><Relationship Type="http://schemas.openxmlformats.org/officeDocument/2006/relationships/notesMaster" Target="/ppt/notesMasters/notesMaster1.xml" Id="R6dc6383da097497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8bbdd40b8354232" /><Relationship Type="http://schemas.openxmlformats.org/officeDocument/2006/relationships/notesMaster" Target="/ppt/notesMasters/notesMaster1.xml" Id="R2450b0f335334c4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288ed2dbb014193" /><Relationship Type="http://schemas.openxmlformats.org/officeDocument/2006/relationships/notesMaster" Target="/ppt/notesMasters/notesMaster1.xml" Id="R9dfdbe1d8a41403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bbb38c0fe334c48" /><Relationship Type="http://schemas.openxmlformats.org/officeDocument/2006/relationships/notesMaster" Target="/ppt/notesMasters/notesMaster1.xml" Id="Rbfb0eca129da44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ProofMesh / Hounds of Singularity. Sources: repository docs/EVALUATION.md, docs/DEPLOYMENT.md, docs/PRODUCT_QA.md; official AI Builder Cup template preserved. Historical reference: https://science.nasa.gov/resource/apollo-8s-iconic-earthrise/. No claim of NASA endorsement. Working build and measurements verified October 17, 2026.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ProofMesh / Hounds of Singularity. Sources: repository docs/EVALUATION.md, docs/DEPLOYMENT.md, docs/PRODUCT_QA.md; official AI Builder Cup template preserved. Historical reference: https://science.nasa.gov/resource/apollo-8s-iconic-earthrise/. No claim of NASA endorsement. Working build and measurements verified October 17, 2026.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ProofMesh / Hounds of Singularity. Sources: repository docs/EVALUATION.md, docs/DEPLOYMENT.md, docs/PRODUCT_QA.md; official AI Builder Cup template preserved. Historical reference: https://science.nasa.gov/resource/apollo-8s-iconic-earthrise/. No claim of NASA endorsement. Working build and measurements verified October 17, 2026.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ProofMesh / Hounds of Singularity. Sources: repository docs/EVALUATION.md, docs/DEPLOYMENT.md, docs/PRODUCT_QA.md; official AI Builder Cup template preserved. Historical reference: https://science.nasa.gov/resource/apollo-8s-iconic-earthrise/. No claim of NASA endorsement. Working build and measurements verified October 17, 2026.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ProofMesh / Hounds of Singularity. Sources: repository docs/EVALUATION.md, docs/DEPLOYMENT.md, docs/PRODUCT_QA.md; official AI Builder Cup template preserved. Historical reference: https://science.nasa.gov/resource/apollo-8s-iconic-earthrise/. No claim of NASA endorsement. Working build and measurements verified October 17, 2026.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ProofMesh / Hounds of Singularity. Sources: repository docs/EVALUATION.md, docs/DEPLOYMENT.md, docs/PRODUCT_QA.md; official AI Builder Cup template preserved. Historical reference: https://science.nasa.gov/resource/apollo-8s-iconic-earthrise/. No claim of NASA endorsement. Working build and measurements verified October 17, 2026.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ProofMesh / Hounds of Singularity. Sources: repository docs/EVALUATION.md, docs/DEPLOYMENT.md, docs/PRODUCT_QA.md; official AI Builder Cup template preserved. Historical reference: https://science.nasa.gov/resource/apollo-8s-iconic-earthrise/. No claim of NASA endorsement. Working build and measurements verified October 17, 2026.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ProofMesh / Hounds of Singularity. Sources: repository docs/EVALUATION.md, docs/DEPLOYMENT.md, docs/PRODUCT_QA.md; official AI Builder Cup template preserved. Historical reference: https://science.nasa.gov/resource/apollo-8s-iconic-earthrise/. No claim of NASA endorsement. Working build and measurements verified October 17, 2026.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ProofMesh / Hounds of Singularity. Sources: repository docs/EVALUATION.md, docs/DEPLOYMENT.md, docs/PRODUCT_QA.md; official AI Builder Cup template preserved. Historical reference: https://science.nasa.gov/resource/apollo-8s-iconic-earthrise/. No claim of NASA endorsement. Working build and measurements verified October 17, 2026.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ProofMesh / Hounds of Singularity. Sources: repository docs/EVALUATION.md, docs/DEPLOYMENT.md, docs/PRODUCT_QA.md; official AI Builder Cup template preserved. Historical reference: https://science.nasa.gov/resource/apollo-8s-iconic-earthrise/. No claim of NASA endorsement. Working build and measurements verified October 17, 2026.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ProofMesh / Hounds of Singularity. Sources: repository docs/EVALUATION.md, docs/DEPLOYMENT.md, docs/PRODUCT_QA.md; official AI Builder Cup template preserved. Historical reference: https://science.nasa.gov/resource/apollo-8s-iconic-earthrise/. No claim of NASA endorsement. Working build and measurements verified October 17, 2026.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ProofMesh / Hounds of Singularity. Sources: repository docs/EVALUATION.md, docs/DEPLOYMENT.md, docs/PRODUCT_QA.md; official AI Builder Cup template preserved. Historical reference: https://science.nasa.gov/resource/apollo-8s-iconic-earthrise/. No claim of NASA endorsement. Working build and measurements verified October 17, 2026.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ProofMesh / Hounds of Singularity. Sources: repository docs/EVALUATION.md, docs/DEPLOYMENT.md, docs/PRODUCT_QA.md; official AI Builder Cup template preserved. Historical reference: https://science.nasa.gov/resource/apollo-8s-iconic-earthrise/. No claim of NASA endorsement. Working build and measurements verified October 17, 2026.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ProofMesh / Hounds of Singularity. Sources: repository docs/EVALUATION.md, docs/DEPLOYMENT.md, docs/PRODUCT_QA.md; official AI Builder Cup template preserved. Historical reference: https://science.nasa.gov/resource/apollo-8s-iconic-earthrise/. No claim of NASA endorsement. Working build and measurements verified October 17, 2026.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ProofMesh / Hounds of Singularity. Sources: repository docs/EVALUATION.md, docs/DEPLOYMENT.md, docs/PRODUCT_QA.md; official AI Builder Cup template preserved. Historical reference: https://science.nasa.gov/resource/apollo-8s-iconic-earthrise/. No claim of NASA endorsement. Working build and measurements verified October 17, 2026.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015d3c86164fd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3902af42724f9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1d3a540edc4aa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5ea316398d4b3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3133c01de9411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34b4024bc548a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4b03773133403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fd28d82668491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63b39259db484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366036d9444bb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3ae519394449af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ECDDBEBB-C890-4A69-AED7-88182A9C0B1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C7C972DC-E4B7-42B8-B5DC-97DB919DC52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54BBAF26-5F88-4ABE-8ED6-7710070813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E9AD9C1F-5934-483A-A5B9-75AA46A29B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3132AFC9-E6F7-4C56-A3B0-F013A0C6DD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84EA32C3-73BF-483C-9FA7-2898CAD071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A7CAD148-07C2-4C3E-96B6-9F3AF99976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1021333D-AA83-4EF2-83D0-00E1FD5D2F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2653AC79-34A1-48E2-BEF4-1B2D62F958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D1AC6F92-4C25-4547-A35A-6CDB68A129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A4F59FA4-08D4-44C3-9F40-A8703C2E1B9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249A22A6-00E1-4E9A-B151-6A1EFC98F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C563A752-69DF-4BD5-82D9-0871A3F160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D9593977-998A-40E5-B892-700867476E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342304BA-FED9-4C4F-8834-72DFC1DF5D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36D33249-693F-444D-9E54-45126524EC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69F4B710-1EC4-4452-8C74-5C305EDF70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EC027238-7B73-4C39-B14C-1774152094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A92B73CB-B817-464B-936B-88E309EA15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374D530E-46F6-4827-A4B2-22C8E980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DD7E8773-089D-488C-872D-AD2A9C848C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594D9F8F-0181-4B50-9065-860159774B3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54047A95-C09D-45D5-8726-622D1837E39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3DB8C613-C51B-415B-822C-84BCD404ED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6D3FDCCE-7F0E-40BB-A00E-4CE317877E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FC48B84F-4012-4B4E-B157-B0023CD814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900CE6F7-DFC2-4444-A8D1-C08E096D3E4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A45BF456-4CEC-40AD-81FA-4728360848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BDD172DF-780B-4A23-B3C5-2054AEACEA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20FBC044-C52E-4BF2-BF01-D1C90A89C6D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3349b94a4747a9" /><Relationship Type="http://schemas.openxmlformats.org/officeDocument/2006/relationships/slideLayout" Target="/ppt/slideLayouts/slideLayout1.xml" Id="Rd13042f3a29e4be7" /><Relationship Type="http://schemas.openxmlformats.org/officeDocument/2006/relationships/slideLayout" Target="/ppt/slideLayouts/slideLayout2.xml" Id="R29d0235f268744a8" /><Relationship Type="http://schemas.openxmlformats.org/officeDocument/2006/relationships/slideLayout" Target="/ppt/slideLayouts/slideLayout3.xml" Id="Rc62d7cce9bfa4137" /><Relationship Type="http://schemas.openxmlformats.org/officeDocument/2006/relationships/slideLayout" Target="/ppt/slideLayouts/slideLayout4.xml" Id="Ra62a45262be94693" /><Relationship Type="http://schemas.openxmlformats.org/officeDocument/2006/relationships/slideLayout" Target="/ppt/slideLayouts/slideLayout5.xml" Id="Rb5dc7a2ad5fa4933" /><Relationship Type="http://schemas.openxmlformats.org/officeDocument/2006/relationships/slideLayout" Target="/ppt/slideLayouts/slideLayout6.xml" Id="R597243311e224b38" /><Relationship Type="http://schemas.openxmlformats.org/officeDocument/2006/relationships/slideLayout" Target="/ppt/slideLayouts/slideLayout7.xml" Id="Rab9710e7943f407e" /><Relationship Type="http://schemas.openxmlformats.org/officeDocument/2006/relationships/slideLayout" Target="/ppt/slideLayouts/slideLayout8.xml" Id="Rec0d4ffc663b497b" /><Relationship Type="http://schemas.openxmlformats.org/officeDocument/2006/relationships/slideLayout" Target="/ppt/slideLayouts/slideLayout9.xml" Id="R4c456abb76ef4eb6" /><Relationship Type="http://schemas.openxmlformats.org/officeDocument/2006/relationships/slideLayout" Target="/ppt/slideLayouts/slideLayout10.xml" Id="R699085d9a1d0435b" /><Relationship Type="http://schemas.openxmlformats.org/officeDocument/2006/relationships/slideLayout" Target="/ppt/slideLayouts/slideLayout11.xml" Id="Rb45a62cabecb4edb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989C8ADE-EC4E-4F2A-BCFD-C53EB5EBB7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AD701BCE-C341-4532-9327-03F1F0AA1C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51DF79B7-54F7-4AD8-B661-E5661D95D6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3042f3a29e4be7"/>
    <p:sldLayoutId xmlns:r="http://schemas.openxmlformats.org/officeDocument/2006/relationships" id="2147483650" r:id="R29d0235f268744a8"/>
    <p:sldLayoutId xmlns:r="http://schemas.openxmlformats.org/officeDocument/2006/relationships" id="2147483651" r:id="Rc62d7cce9bfa4137"/>
    <p:sldLayoutId xmlns:r="http://schemas.openxmlformats.org/officeDocument/2006/relationships" id="2147483652" r:id="Ra62a45262be94693"/>
    <p:sldLayoutId xmlns:r="http://schemas.openxmlformats.org/officeDocument/2006/relationships" id="2147483653" r:id="Rb5dc7a2ad5fa4933"/>
    <p:sldLayoutId xmlns:r="http://schemas.openxmlformats.org/officeDocument/2006/relationships" id="2147483654" r:id="R597243311e224b38"/>
    <p:sldLayoutId xmlns:r="http://schemas.openxmlformats.org/officeDocument/2006/relationships" id="2147483655" r:id="Rab9710e7943f407e"/>
    <p:sldLayoutId xmlns:r="http://schemas.openxmlformats.org/officeDocument/2006/relationships" id="2147483656" r:id="Rec0d4ffc663b497b"/>
    <p:sldLayoutId xmlns:r="http://schemas.openxmlformats.org/officeDocument/2006/relationships" id="2147483657" r:id="R4c456abb76ef4eb6"/>
    <p:sldLayoutId xmlns:r="http://schemas.openxmlformats.org/officeDocument/2006/relationships" id="2147483658" r:id="R699085d9a1d0435b"/>
    <p:sldLayoutId xmlns:r="http://schemas.openxmlformats.org/officeDocument/2006/relationships" id="2147483659" r:id="Rb45a62cabecb4edb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bc850355c4086" /><Relationship Type="http://schemas.openxmlformats.org/officeDocument/2006/relationships/image" Target="/ppt/media/image.png" Id="R60e0b8461e124774" /><Relationship Type="http://schemas.openxmlformats.org/officeDocument/2006/relationships/image" Target="/ppt/media/image2.png" Id="Rb5a8c5f608cc43b4" /><Relationship Type="http://schemas.openxmlformats.org/officeDocument/2006/relationships/notesSlide" Target="/ppt/notesSlides/notesSlide1.xml" Id="Receb8583a0d743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89682dad8e43d8" /><Relationship Type="http://schemas.openxmlformats.org/officeDocument/2006/relationships/image" Target="/ppt/media/image3.png" Id="R1c818d4234e34c8b" /><Relationship Type="http://schemas.openxmlformats.org/officeDocument/2006/relationships/notesSlide" Target="/ppt/notesSlides/notesSlide2.xml" Id="R2d96ec90a1144b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f7ecdf8cc46e4" /><Relationship Type="http://schemas.openxmlformats.org/officeDocument/2006/relationships/image" Target="/ppt/media/image2.png" Id="R2781458ac20a42e3" /><Relationship Type="http://schemas.openxmlformats.org/officeDocument/2006/relationships/image" Target="/ppt/media/image3.png" Id="Rf876271ac1af4cbb" /><Relationship Type="http://schemas.openxmlformats.org/officeDocument/2006/relationships/notesSlide" Target="/ppt/notesSlides/notesSlide3.xml" Id="Rd2f252ae3b5341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41cc3383f466b" /><Relationship Type="http://schemas.openxmlformats.org/officeDocument/2006/relationships/image" Target="/ppt/media/image2.png" Id="R3b8c96bcccf24d51" /><Relationship Type="http://schemas.openxmlformats.org/officeDocument/2006/relationships/image" Target="/ppt/media/image3.png" Id="R49d48356ea754a5a" /><Relationship Type="http://schemas.openxmlformats.org/officeDocument/2006/relationships/notesSlide" Target="/ppt/notesSlides/notesSlide4.xml" Id="Ree563c4df75f4e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017dd0da648f0" /><Relationship Type="http://schemas.openxmlformats.org/officeDocument/2006/relationships/image" Target="/ppt/media/image2.png" Id="Rd104cc3be4d74d8f" /><Relationship Type="http://schemas.openxmlformats.org/officeDocument/2006/relationships/image" Target="/ppt/media/image3.png" Id="R0ca08aee44a54507" /><Relationship Type="http://schemas.openxmlformats.org/officeDocument/2006/relationships/notesSlide" Target="/ppt/notesSlides/notesSlide5.xml" Id="R2e7aa1e527834f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2f361ba4df489b" /><Relationship Type="http://schemas.openxmlformats.org/officeDocument/2006/relationships/image" Target="/ppt/media/image2.png" Id="R3a433f0a0a3b488e" /><Relationship Type="http://schemas.openxmlformats.org/officeDocument/2006/relationships/image" Target="/ppt/media/image3.png" Id="R2328ea06624b4f16" /><Relationship Type="http://schemas.openxmlformats.org/officeDocument/2006/relationships/image" Target="/ppt/media/image.jpeg" Id="R90bbfd4a50a34f6f" /><Relationship Type="http://schemas.openxmlformats.org/officeDocument/2006/relationships/notesSlide" Target="/ppt/notesSlides/notesSlide6.xml" Id="R2f8ac9a3117143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1ddd9b28a46fa" /><Relationship Type="http://schemas.openxmlformats.org/officeDocument/2006/relationships/image" Target="/ppt/media/image2.png" Id="Rd92e86ae1bb6424e" /><Relationship Type="http://schemas.openxmlformats.org/officeDocument/2006/relationships/image" Target="/ppt/media/image3.png" Id="R3ff2675f46494e8e" /><Relationship Type="http://schemas.openxmlformats.org/officeDocument/2006/relationships/notesSlide" Target="/ppt/notesSlides/notesSlide7.xml" Id="R02d8e3e54cce42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12f0065c54cd1" /><Relationship Type="http://schemas.openxmlformats.org/officeDocument/2006/relationships/image" Target="/ppt/media/image2.png" Id="Re1ac525786d94c14" /><Relationship Type="http://schemas.openxmlformats.org/officeDocument/2006/relationships/image" Target="/ppt/media/image3.png" Id="R29a34d9e34ef4816" /><Relationship Type="http://schemas.openxmlformats.org/officeDocument/2006/relationships/notesSlide" Target="/ppt/notesSlides/notesSlide8.xml" Id="Rdee091d1f9bc4a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1a8f825b24a45" /><Relationship Type="http://schemas.openxmlformats.org/officeDocument/2006/relationships/image" Target="/ppt/media/image2.png" Id="R9b4e3d23294743dd" /><Relationship Type="http://schemas.openxmlformats.org/officeDocument/2006/relationships/image" Target="/ppt/media/image3.png" Id="Re8f0304cdf9f4a9d" /><Relationship Type="http://schemas.openxmlformats.org/officeDocument/2006/relationships/notesSlide" Target="/ppt/notesSlides/notesSlide9.xml" Id="Rb5b4edab6a7a47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e2931718946f2" /><Relationship Type="http://schemas.openxmlformats.org/officeDocument/2006/relationships/image" Target="/ppt/media/image2.png" Id="R2e19f9876a7a487c" /><Relationship Type="http://schemas.openxmlformats.org/officeDocument/2006/relationships/image" Target="/ppt/media/image3.png" Id="Rb4615bba6aba4c29" /><Relationship Type="http://schemas.openxmlformats.org/officeDocument/2006/relationships/image" Target="/ppt/media/image2.jpeg" Id="R4d44ab09b6ec48c0" /><Relationship Type="http://schemas.openxmlformats.org/officeDocument/2006/relationships/image" Target="/ppt/media/image3.jpeg" Id="R60ae7ef722414c4d" /><Relationship Type="http://schemas.openxmlformats.org/officeDocument/2006/relationships/notesSlide" Target="/ppt/notesSlides/notesSlide10.xml" Id="R1cacaa63e9dc482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a354072752432f" /><Relationship Type="http://schemas.openxmlformats.org/officeDocument/2006/relationships/image" Target="/ppt/media/image2.png" Id="R09370a3eb69b486f" /><Relationship Type="http://schemas.openxmlformats.org/officeDocument/2006/relationships/image" Target="/ppt/media/image3.png" Id="Raf37ad1f58604688" /><Relationship Type="http://schemas.openxmlformats.org/officeDocument/2006/relationships/notesSlide" Target="/ppt/notesSlides/notesSlide11.xml" Id="Rc883b221fffa442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c7b8b49584bb8" /><Relationship Type="http://schemas.openxmlformats.org/officeDocument/2006/relationships/image" Target="/ppt/media/image2.png" Id="Rfda9fff738234e8c" /><Relationship Type="http://schemas.openxmlformats.org/officeDocument/2006/relationships/image" Target="/ppt/media/image3.png" Id="R21ff1874a9f44cd2" /><Relationship Type="http://schemas.openxmlformats.org/officeDocument/2006/relationships/notesSlide" Target="/ppt/notesSlides/notesSlide12.xml" Id="Rb9999be908e4415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7c845f268b4749" /><Relationship Type="http://schemas.openxmlformats.org/officeDocument/2006/relationships/image" Target="/ppt/media/image2.png" Id="R7c031c8d9484459f" /><Relationship Type="http://schemas.openxmlformats.org/officeDocument/2006/relationships/image" Target="/ppt/media/image3.png" Id="R261ba9ca4b0a4b30" /><Relationship Type="http://schemas.openxmlformats.org/officeDocument/2006/relationships/notesSlide" Target="/ppt/notesSlides/notesSlide13.xml" Id="R9ccd596f865c4c7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900bb4d9c48f8" /><Relationship Type="http://schemas.openxmlformats.org/officeDocument/2006/relationships/image" Target="/ppt/media/image2.png" Id="R9df456b15bbd4178" /><Relationship Type="http://schemas.openxmlformats.org/officeDocument/2006/relationships/image" Target="/ppt/media/image3.png" Id="R3a47c160aa824d70" /><Relationship Type="http://schemas.openxmlformats.org/officeDocument/2006/relationships/notesSlide" Target="/ppt/notesSlides/notesSlide14.xml" Id="R4e6aacf14c8b487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f213b1cbb049be" /><Relationship Type="http://schemas.openxmlformats.org/officeDocument/2006/relationships/image" Target="/ppt/media/image2.png" Id="Rab63c8f9768c4d3c" /><Relationship Type="http://schemas.openxmlformats.org/officeDocument/2006/relationships/image" Target="/ppt/media/image4.png" Id="R803265f5be494211" /><Relationship Type="http://schemas.openxmlformats.org/officeDocument/2006/relationships/notesSlide" Target="/ppt/notesSlides/notesSlide15.xml" Id="R8f5cc22b03814dc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13">
            <a:extLst xmlns:a="http://schemas.openxmlformats.org/drawingml/2006/main">
              <a:ext uri="{FF2B5EF4-FFF2-40B4-BE49-F238E27FC236}">
                <a16:creationId xmlns:a16="http://schemas.microsoft.com/office/drawing/2014/main" id="{1AA63442-0D4A-4BF5-B4F4-65329470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90" y="2902649"/>
            <a:ext cx="8760047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2100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defRPr>
            </a:pPr>
            <a:r>
              <a:rPr sz="2100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</a:endParaRPr>
          </a:p>
        </p:txBody>
      </p:sp>
      <p:pic>
        <p:nvPic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F7970F92-2FC9-402D-8FB8-4ED493B086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e0b8461e12477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3"/>
            <a:ext cx="9144000" cy="27155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6" name="Google Shape;56;p13">
            <a:extLst xmlns:a="http://schemas.openxmlformats.org/drawingml/2006/main">
              <a:ext uri="{FF2B5EF4-FFF2-40B4-BE49-F238E27FC236}">
                <a16:creationId xmlns:a16="http://schemas.microsoft.com/office/drawing/2014/main" id="{7446F0B0-B275-4FB0-8F78-91071A05AA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5a8c5f608cc43b4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041B516-A296-4FF1-840A-75823207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8305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a. Team name: Hounds of Singularity</a:t>
            </a:r>
          </a:p>
          <a:p xmlns:a="http://schemas.openxmlformats.org/drawingml/2006/main">
            <a:pPr>
              <a:defRPr sz="18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b. Team leader name: Harshwardhan Tripathi</a:t>
            </a:r>
          </a:p>
          <a:p xmlns:a="http://schemas.openxmlformats.org/drawingml/2006/main">
            <a:pPr>
              <a:defRPr sz="18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c. Problem Statement: Media, Content &amp; Digital Experiences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C706CC1-1138-46D3-9DDE-15D169FF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3392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Team member: Chennika</a:t>
            </a:r>
          </a:p>
        </p:txBody>
      </p:sp>
    </p:spTree>
    <p:extLst>
      <p:ext uri="{BB962C8B-B14F-4D97-AF65-F5344CB8AC3E}">
        <p14:creationId xmlns:p14="http://schemas.microsoft.com/office/powerpoint/2010/main" val="19899655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9" name="Google Shape;69;p15">
            <a:extLst xmlns:a="http://schemas.openxmlformats.org/drawingml/2006/main">
              <a:ext uri="{FF2B5EF4-FFF2-40B4-BE49-F238E27FC236}">
                <a16:creationId xmlns:a16="http://schemas.microsoft.com/office/drawing/2014/main" id="{B2CD953B-68D6-4D41-BD3C-4309D3F430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818d4234e34c8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5">
            <a:extLst xmlns:a="http://schemas.openxmlformats.org/drawingml/2006/main">
              <a:ext uri="{FF2B5EF4-FFF2-40B4-BE49-F238E27FC236}">
                <a16:creationId xmlns:a16="http://schemas.microsoft.com/office/drawing/2014/main" id="{458358E1-00C7-4899-A5EF-C4E49A3B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>
            <a:extLst xmlns:a="http://schemas.openxmlformats.org/drawingml/2006/main">
              <a:ext uri="{FF2B5EF4-FFF2-40B4-BE49-F238E27FC236}">
                <a16:creationId xmlns:a16="http://schemas.microsoft.com/office/drawing/2014/main" id="{D34CE9B6-8857-4F33-BF1C-540D5D04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Google Sans Flex Medium"/>
                <a:ea typeface="Google Sans Flex Medium"/>
                <a:cs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213220D-8218-4636-A082-DB410A6E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76375"/>
            <a:ext cx="830580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95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ProofMesh separates the identity of an image from the claims made about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95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The Chrome extension checks visible X posts against a shared investigation registry. A familiar image with a different caption stays unverified.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95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On demand, Gemini researches the exact claim, assesses fetched source passages and critiques its conclusion. Media origin remains unknown.</a:t>
            </a:r>
          </a:p>
        </p:txBody>
      </p:sp>
    </p:spTree>
    <p:extLst>
      <p:ext uri="{BB962C8B-B14F-4D97-AF65-F5344CB8AC3E}">
        <p14:creationId xmlns:p14="http://schemas.microsoft.com/office/powerpoint/2010/main" val="204111633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6" name="Google Shape;76;p16">
            <a:extLst xmlns:a="http://schemas.openxmlformats.org/drawingml/2006/main">
              <a:ext uri="{FF2B5EF4-FFF2-40B4-BE49-F238E27FC236}">
                <a16:creationId xmlns:a16="http://schemas.microsoft.com/office/drawing/2014/main" id="{FDC2DCC2-1741-4D14-BA09-25A5A36BC1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781458ac20a42e3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7" name="Google Shape;77;p16">
            <a:extLst xmlns:a="http://schemas.openxmlformats.org/drawingml/2006/main">
              <a:ext uri="{FF2B5EF4-FFF2-40B4-BE49-F238E27FC236}">
                <a16:creationId xmlns:a16="http://schemas.microsoft.com/office/drawing/2014/main" id="{AC8924EC-2A7B-40FA-9590-F1CC961E8F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76271ac1af4cb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8" name="Google Shape;78;p16">
            <a:extLst xmlns:a="http://schemas.openxmlformats.org/drawingml/2006/main">
              <a:ext uri="{FF2B5EF4-FFF2-40B4-BE49-F238E27FC236}">
                <a16:creationId xmlns:a16="http://schemas.microsoft.com/office/drawing/2014/main" id="{C0AA6DA2-F756-45AC-A9C3-29F637CB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>
            <a:extLst xmlns:a="http://schemas.openxmlformats.org/drawingml/2006/main">
              <a:ext uri="{FF2B5EF4-FFF2-40B4-BE49-F238E27FC236}">
                <a16:creationId xmlns:a16="http://schemas.microsoft.com/office/drawing/2014/main" id="{6408E005-D9D2-44D9-A8FB-DD0354E0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66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9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9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Opportunities</a:t>
            </a:r>
            <a:endParaRPr sz="1600">
              <a:latin typeface="Google Sans Flex SemiBold"/>
              <a:ea typeface="Google Sans Flex SemiBold"/>
              <a:cs typeface="Google Sans Flex SemiBold"/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D58F592-56ED-46AC-8C7F-65990CF2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76375"/>
            <a:ext cx="830580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Difference: completed investigations become reusable context in the browsing feed, rather than a one-off chat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Problem addressed: authentic media can be assigned a misleading date, location or event. Each caption needs its own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USP: exact-context reuse makes zero model calls. Similar images retrieve leads, never an inherited verdict.</a:t>
            </a:r>
          </a:p>
        </p:txBody>
      </p:sp>
    </p:spTree>
    <p:extLst>
      <p:ext uri="{BB962C8B-B14F-4D97-AF65-F5344CB8AC3E}">
        <p14:creationId xmlns:p14="http://schemas.microsoft.com/office/powerpoint/2010/main" val="7308828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4" name="Google Shape;84;p17">
            <a:extLst xmlns:a="http://schemas.openxmlformats.org/drawingml/2006/main">
              <a:ext uri="{FF2B5EF4-FFF2-40B4-BE49-F238E27FC236}">
                <a16:creationId xmlns:a16="http://schemas.microsoft.com/office/drawing/2014/main" id="{4165E41A-A657-4AAF-85F0-F8FAD137A5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b8c96bcccf24d51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5" name="Google Shape;85;p17">
            <a:extLst xmlns:a="http://schemas.openxmlformats.org/drawingml/2006/main">
              <a:ext uri="{FF2B5EF4-FFF2-40B4-BE49-F238E27FC236}">
                <a16:creationId xmlns:a16="http://schemas.microsoft.com/office/drawing/2014/main" id="{1328A7E3-BDC5-4C2D-80BE-D6090843F6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d48356ea754a5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6" name="Google Shape;86;p17">
            <a:extLst xmlns:a="http://schemas.openxmlformats.org/drawingml/2006/main">
              <a:ext uri="{FF2B5EF4-FFF2-40B4-BE49-F238E27FC236}">
                <a16:creationId xmlns:a16="http://schemas.microsoft.com/office/drawing/2014/main" id="{4A4FB6FF-644D-4A56-8BC1-E6B6C838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>
            <a:extLst xmlns:a="http://schemas.openxmlformats.org/drawingml/2006/main">
              <a:ext uri="{FF2B5EF4-FFF2-40B4-BE49-F238E27FC236}">
                <a16:creationId xmlns:a16="http://schemas.microsoft.com/office/drawing/2014/main" id="{97A1494F-BA0B-4583-807C-4626A61D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Google Sans Flex Medium"/>
                <a:ea typeface="Google Sans Flex Medium"/>
                <a:cs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D2BA232-8B69-4546-AB23-2DDF6B42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76375"/>
            <a:ext cx="830580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Visible-post extraction and opt-in registry lookups on 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Image fingerprints and separate caption identity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Source-linked supported, contradicted or unresolved findings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Persistent jobs with polling, deduplication and bounded retry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Public recorded cases and downloadable evidence reports</a:t>
            </a:r>
          </a:p>
        </p:txBody>
      </p:sp>
    </p:spTree>
    <p:extLst>
      <p:ext uri="{BB962C8B-B14F-4D97-AF65-F5344CB8AC3E}">
        <p14:creationId xmlns:p14="http://schemas.microsoft.com/office/powerpoint/2010/main" val="3126828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2" name="Google Shape;92;p18">
            <a:extLst xmlns:a="http://schemas.openxmlformats.org/drawingml/2006/main">
              <a:ext uri="{FF2B5EF4-FFF2-40B4-BE49-F238E27FC236}">
                <a16:creationId xmlns:a16="http://schemas.microsoft.com/office/drawing/2014/main" id="{BDC2E2E3-1EEE-499E-AAD2-0749FDB8C1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104cc3be4d74d8f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3" name="Google Shape;93;p18">
            <a:extLst xmlns:a="http://schemas.openxmlformats.org/drawingml/2006/main">
              <a:ext uri="{FF2B5EF4-FFF2-40B4-BE49-F238E27FC236}">
                <a16:creationId xmlns:a16="http://schemas.microsoft.com/office/drawing/2014/main" id="{6804CB8F-589D-475F-A320-86D5EFBB1A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a08aee44a5450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4" name="Google Shape;94;p18">
            <a:extLst xmlns:a="http://schemas.openxmlformats.org/drawingml/2006/main">
              <a:ext uri="{FF2B5EF4-FFF2-40B4-BE49-F238E27FC236}">
                <a16:creationId xmlns:a16="http://schemas.microsoft.com/office/drawing/2014/main" id="{8B376A17-CCC2-4C0D-B5C8-BF86E896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>
            <a:extLst xmlns:a="http://schemas.openxmlformats.org/drawingml/2006/main">
              <a:ext uri="{FF2B5EF4-FFF2-40B4-BE49-F238E27FC236}">
                <a16:creationId xmlns:a16="http://schemas.microsoft.com/office/drawing/2014/main" id="{8F047692-3F1F-4218-BB7D-DB8809BF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Google Sans Flex Medium"/>
                <a:ea typeface="Google Sans Flex Medium"/>
                <a:cs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098D5E7-F2E6-499E-B94B-C301597E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09750"/>
            <a:ext cx="1762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5F636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Visible post</a:t>
            </a:r>
          </a:p>
          <a:p xmlns:a="http://schemas.openxmlformats.org/drawingml/2006/main">
            <a:pPr algn="ctr">
              <a:def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or submission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933D9F1-2EA2-4680-B42F-C6D68D0E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905000"/>
            <a:ext cx="361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24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→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471EB25-3D3F-4D6D-BF22-EA1B24B3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09750"/>
            <a:ext cx="1762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5F636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Exact context</a:t>
            </a:r>
          </a:p>
          <a:p xmlns:a="http://schemas.openxmlformats.org/drawingml/2006/main">
            <a:pPr algn="ctr">
              <a:def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lookup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7C897F3-92FA-441A-AE7A-3C12FAF4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05000"/>
            <a:ext cx="361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24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→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FBDE47E-88E4-4E62-BFF6-BC77D855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809750"/>
            <a:ext cx="1762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5F636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Fresh report</a:t>
            </a:r>
          </a:p>
          <a:p xmlns:a="http://schemas.openxmlformats.org/drawingml/2006/main">
            <a:pPr algn="ctr">
              <a:def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exists?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2EB2712-2958-4DA3-BF14-25D7BDC3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05000"/>
            <a:ext cx="361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24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→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507A9DD-59C7-42C0-9DBE-E264F220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809750"/>
            <a:ext cx="1762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5F636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Reuse report</a:t>
            </a:r>
          </a:p>
          <a:p xmlns:a="http://schemas.openxmlformats.org/drawingml/2006/main">
            <a:pPr algn="ctr">
              <a:def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0 model calls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4C9FD32-058B-463B-8263-6416D78A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86125"/>
            <a:ext cx="2476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5F636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No match: stay unverified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26F7E4F-270A-4819-817A-68093E36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33750"/>
            <a:ext cx="361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24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→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3BDAFEE-C750-4B0A-9CBE-B668ACD3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86125"/>
            <a:ext cx="30003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5F636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User requests investigation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6C485CD-A5C7-43EB-8D9D-CC469611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33875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A matching image does not answer a new caption.</a:t>
            </a:r>
          </a:p>
        </p:txBody>
      </p:sp>
    </p:spTree>
    <p:extLst>
      <p:ext uri="{BB962C8B-B14F-4D97-AF65-F5344CB8AC3E}">
        <p14:creationId xmlns:p14="http://schemas.microsoft.com/office/powerpoint/2010/main" val="17267210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0" name="Google Shape;100;p19">
            <a:extLst xmlns:a="http://schemas.openxmlformats.org/drawingml/2006/main">
              <a:ext uri="{FF2B5EF4-FFF2-40B4-BE49-F238E27FC236}">
                <a16:creationId xmlns:a16="http://schemas.microsoft.com/office/drawing/2014/main" id="{08403958-BC37-486C-9811-F35A1029BE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a433f0a0a3b488e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" name="Google Shape;101;p19">
            <a:extLst xmlns:a="http://schemas.openxmlformats.org/drawingml/2006/main">
              <a:ext uri="{FF2B5EF4-FFF2-40B4-BE49-F238E27FC236}">
                <a16:creationId xmlns:a16="http://schemas.microsoft.com/office/drawing/2014/main" id="{FDF9B4B7-5247-4A09-9624-F037D38335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28ea06624b4f1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2" name="Google Shape;102;p19">
            <a:extLst xmlns:a="http://schemas.openxmlformats.org/drawingml/2006/main">
              <a:ext uri="{FF2B5EF4-FFF2-40B4-BE49-F238E27FC236}">
                <a16:creationId xmlns:a16="http://schemas.microsoft.com/office/drawing/2014/main" id="{733F95B4-387B-48EF-A7B7-B68F2DFB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>
            <a:extLst xmlns:a="http://schemas.openxmlformats.org/drawingml/2006/main">
              <a:ext uri="{FF2B5EF4-FFF2-40B4-BE49-F238E27FC236}">
                <a16:creationId xmlns:a16="http://schemas.microsoft.com/office/drawing/2014/main" id="{4C5CA4A7-A8BE-4774-A94E-78EB1F61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Google Sans Flex Medium"/>
                <a:ea typeface="Google Sans Flex Medium"/>
                <a:cs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pic>
        <p:nvPic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E4C399F-9607-45C9-A0E3-D0F09C0CC8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bbfd4a50a34f6f"/>
          <a:stretch xmlns:a="http://schemas.openxmlformats.org/drawingml/2006/main"/>
        </p:blipFill>
        <p:spPr>
          <a:xfrm xmlns:a="http://schemas.openxmlformats.org/drawingml/2006/main">
            <a:off x="1624999" y="1428750"/>
            <a:ext cx="5894002" cy="3190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5328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8" name="Google Shape;108;p20">
            <a:extLst xmlns:a="http://schemas.openxmlformats.org/drawingml/2006/main">
              <a:ext uri="{FF2B5EF4-FFF2-40B4-BE49-F238E27FC236}">
                <a16:creationId xmlns:a16="http://schemas.microsoft.com/office/drawing/2014/main" id="{78B96099-670D-4356-8B55-0B6C9FC816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92e86ae1bb6424e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9" name="Google Shape;109;p20">
            <a:extLst xmlns:a="http://schemas.openxmlformats.org/drawingml/2006/main">
              <a:ext uri="{FF2B5EF4-FFF2-40B4-BE49-F238E27FC236}">
                <a16:creationId xmlns:a16="http://schemas.microsoft.com/office/drawing/2014/main" id="{A55E6E94-03CF-40A2-BDE1-FB6D4AF49C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f2675f46494e8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0" name="Google Shape;110;p20">
            <a:extLst xmlns:a="http://schemas.openxmlformats.org/drawingml/2006/main">
              <a:ext uri="{FF2B5EF4-FFF2-40B4-BE49-F238E27FC236}">
                <a16:creationId xmlns:a16="http://schemas.microsoft.com/office/drawing/2014/main" id="{9EB7986B-69D5-4593-BD56-2A650F4C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>
            <a:extLst xmlns:a="http://schemas.openxmlformats.org/drawingml/2006/main">
              <a:ext uri="{FF2B5EF4-FFF2-40B4-BE49-F238E27FC236}">
                <a16:creationId xmlns:a16="http://schemas.microsoft.com/office/drawing/2014/main" id="{0FBE3D24-A853-41B8-8000-E71E217E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Google Sans Flex Medium"/>
                <a:ea typeface="Google Sans Flex Medium"/>
                <a:cs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FFD4348-10A7-4426-8438-B3523C45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76375"/>
            <a:ext cx="2952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5F636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Chrome extension / portal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B55927F-1567-4864-BCAD-8311A904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552575"/>
            <a:ext cx="361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24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→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99900C0-15D6-4579-9D82-23E91C97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476375"/>
            <a:ext cx="2238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5F636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Cloud Run API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D7421EF-A3DA-4962-9966-70FA18AE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52575"/>
            <a:ext cx="361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24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→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709EA28-A559-4CFA-BF96-FB81D2C1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76375"/>
            <a:ext cx="1857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5F636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Firestore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3463DF0-082C-402B-9223-9008A38D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571750"/>
            <a:ext cx="2238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5F636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Cloud Tasks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4862278-BFE8-4598-B117-FE12D891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47875"/>
            <a:ext cx="42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24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↓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CDE8F39-61CF-4643-B610-128FC527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43250"/>
            <a:ext cx="42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24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↓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BB612D5-4020-43A0-B7CB-D5D4F6F3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667125"/>
            <a:ext cx="2238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5F636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Cloud Run worker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98A1859-CE0A-4780-9614-ECFFFB77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0"/>
            <a:ext cx="30003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5F636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Vision matching-page leads</a:t>
            </a:r>
          </a:p>
          <a:p xmlns:a="http://schemas.openxmlformats.org/drawingml/2006/main">
            <a:pPr algn="ctr">
              <a:def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Gemini + fetched sources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FD439AA-9648-4FEE-A903-59BA648D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3380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24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←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ABCA379-05C5-41F3-976C-3226750F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18573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5F636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Private image bucket</a:t>
            </a:r>
          </a:p>
          <a:p xmlns:a="http://schemas.openxmlformats.org/drawingml/2006/main">
            <a:pPr algn="ctr">
              <a:def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Secret Manager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70114AE-FD23-44B6-9F48-2C824F18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33800"/>
            <a:ext cx="361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24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→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9A99405-D291-48F2-BC10-522A81AB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72000"/>
            <a:ext cx="828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4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Mumbai resources; Gemini global endpoint. Attached service identities.</a:t>
            </a:r>
          </a:p>
        </p:txBody>
      </p:sp>
    </p:spTree>
    <p:extLst>
      <p:ext uri="{BB962C8B-B14F-4D97-AF65-F5344CB8AC3E}">
        <p14:creationId xmlns:p14="http://schemas.microsoft.com/office/powerpoint/2010/main" val="103421554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6" name="Google Shape;116;p21">
            <a:extLst xmlns:a="http://schemas.openxmlformats.org/drawingml/2006/main">
              <a:ext uri="{FF2B5EF4-FFF2-40B4-BE49-F238E27FC236}">
                <a16:creationId xmlns:a16="http://schemas.microsoft.com/office/drawing/2014/main" id="{B04E4561-06EC-4749-9795-58043270C8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1ac525786d94c14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7" name="Google Shape;117;p21">
            <a:extLst xmlns:a="http://schemas.openxmlformats.org/drawingml/2006/main">
              <a:ext uri="{FF2B5EF4-FFF2-40B4-BE49-F238E27FC236}">
                <a16:creationId xmlns:a16="http://schemas.microsoft.com/office/drawing/2014/main" id="{E4ED6FF2-C5EF-4161-AF5C-97CBFF694D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a34d9e34ef481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8" name="Google Shape;118;p21">
            <a:extLst xmlns:a="http://schemas.openxmlformats.org/drawingml/2006/main">
              <a:ext uri="{FF2B5EF4-FFF2-40B4-BE49-F238E27FC236}">
                <a16:creationId xmlns:a16="http://schemas.microsoft.com/office/drawing/2014/main" id="{69EF3E56-6AC6-42C2-9FFF-7D457460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>
            <a:extLst xmlns:a="http://schemas.openxmlformats.org/drawingml/2006/main">
              <a:ext uri="{FF2B5EF4-FFF2-40B4-BE49-F238E27FC236}">
                <a16:creationId xmlns:a16="http://schemas.microsoft.com/office/drawing/2014/main" id="{9DA4804E-00D3-4516-8A49-FD5026CD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Google Sans Flex Medium"/>
                <a:ea typeface="Google Sans Flex Medium"/>
                <a:cs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F1750CF-C1CE-486E-9889-1744F364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76375"/>
            <a:ext cx="830580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Gemini on Vertex AI: search research, structured assessment and critique</a:t>
            </a:r>
          </a:p>
          <a:p xmlns:a="http://schemas.openxmlformats.org/drawingml/2006/main">
            <a:pPr>
              <a:def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Cloud Vision Web Detection: image matching-page leads</a:t>
            </a:r>
          </a:p>
          <a:p xmlns:a="http://schemas.openxmlformats.org/drawingml/2006/main">
            <a:pPr>
              <a:def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Cloud Firestore: reports, jobs and transactional admission limits</a:t>
            </a:r>
          </a:p>
          <a:p xmlns:a="http://schemas.openxmlformats.org/drawingml/2006/main">
            <a:pPr>
              <a:def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Cloud Run + Cloud Tasks: application and durable work delivery</a:t>
            </a:r>
          </a:p>
          <a:p xmlns:a="http://schemas.openxmlformats.org/drawingml/2006/main">
            <a:pPr>
              <a:def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Cloud Storage + Secret Manager: temporary images and credentials</a:t>
            </a:r>
          </a:p>
          <a:p xmlns:a="http://schemas.openxmlformats.org/drawingml/2006/main">
            <a:pPr>
              <a:def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FastAPI, Python, Chrome Manifest V3, HTML/CSS/JavaScript</a:t>
            </a:r>
          </a:p>
        </p:txBody>
      </p:sp>
    </p:spTree>
    <p:extLst>
      <p:ext uri="{BB962C8B-B14F-4D97-AF65-F5344CB8AC3E}">
        <p14:creationId xmlns:p14="http://schemas.microsoft.com/office/powerpoint/2010/main" val="61852497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4" name="Google Shape;124;p22">
            <a:extLst xmlns:a="http://schemas.openxmlformats.org/drawingml/2006/main">
              <a:ext uri="{FF2B5EF4-FFF2-40B4-BE49-F238E27FC236}">
                <a16:creationId xmlns:a16="http://schemas.microsoft.com/office/drawing/2014/main" id="{0FA702DA-D1AC-43E8-8E11-CDBF7592E0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b4e3d23294743dd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5" name="Google Shape;125;p22">
            <a:extLst xmlns:a="http://schemas.openxmlformats.org/drawingml/2006/main">
              <a:ext uri="{FF2B5EF4-FFF2-40B4-BE49-F238E27FC236}">
                <a16:creationId xmlns:a16="http://schemas.microsoft.com/office/drawing/2014/main" id="{50BAE55C-960A-418F-B510-4B3A41C164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f0304cdf9f4a9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6" name="Google Shape;126;p22">
            <a:extLst xmlns:a="http://schemas.openxmlformats.org/drawingml/2006/main">
              <a:ext uri="{FF2B5EF4-FFF2-40B4-BE49-F238E27FC236}">
                <a16:creationId xmlns:a16="http://schemas.microsoft.com/office/drawing/2014/main" id="{C179A843-419A-4A0D-A8BF-B2784CB6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>
            <a:extLst xmlns:a="http://schemas.openxmlformats.org/drawingml/2006/main">
              <a:ext uri="{FF2B5EF4-FFF2-40B4-BE49-F238E27FC236}">
                <a16:creationId xmlns:a16="http://schemas.microsoft.com/office/drawing/2014/main" id="{52F2283C-8847-4311-8C9D-8039789C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Google Sans Flex Medium"/>
                <a:ea typeface="Google Sans Flex Medium"/>
                <a:cs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7C79190-F72A-42AD-8750-229C9498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76375"/>
            <a:ext cx="830580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Approved trial-credit budget: US$5 total for bounded work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Four selected completed local runs: estimated model-token cost US$0.0711, before search, Vision, infrastructure and failed attempts. This is not a billing receipt.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Controls: zero minimum / one maximum instance; four new attempts per day and twelve across the live window.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No billing upgrade. Alerts and workload limits are not an absolute dollar cap.</a:t>
            </a:r>
          </a:p>
        </p:txBody>
      </p:sp>
    </p:spTree>
    <p:extLst>
      <p:ext uri="{BB962C8B-B14F-4D97-AF65-F5344CB8AC3E}">
        <p14:creationId xmlns:p14="http://schemas.microsoft.com/office/powerpoint/2010/main" val="91558486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2" name="Google Shape;132;p23">
            <a:extLst xmlns:a="http://schemas.openxmlformats.org/drawingml/2006/main">
              <a:ext uri="{FF2B5EF4-FFF2-40B4-BE49-F238E27FC236}">
                <a16:creationId xmlns:a16="http://schemas.microsoft.com/office/drawing/2014/main" id="{96010F3B-0DAC-4B99-A80F-D2E55935EE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e19f9876a7a487c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3" name="Google Shape;133;p23">
            <a:extLst xmlns:a="http://schemas.openxmlformats.org/drawingml/2006/main">
              <a:ext uri="{FF2B5EF4-FFF2-40B4-BE49-F238E27FC236}">
                <a16:creationId xmlns:a16="http://schemas.microsoft.com/office/drawing/2014/main" id="{E2D12AC6-D2F3-4782-A352-2F2C209042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615bba6aba4c2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4" name="Google Shape;134;p23">
            <a:extLst xmlns:a="http://schemas.openxmlformats.org/drawingml/2006/main">
              <a:ext uri="{FF2B5EF4-FFF2-40B4-BE49-F238E27FC236}">
                <a16:creationId xmlns:a16="http://schemas.microsoft.com/office/drawing/2014/main" id="{7E7C8255-5E8A-41DF-8731-6918EA8F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>
            <a:extLst xmlns:a="http://schemas.openxmlformats.org/drawingml/2006/main">
              <a:ext uri="{FF2B5EF4-FFF2-40B4-BE49-F238E27FC236}">
                <a16:creationId xmlns:a16="http://schemas.microsoft.com/office/drawing/2014/main" id="{9A440705-43EC-4502-9525-4420D58B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Google Sans Flex Medium"/>
                <a:ea typeface="Google Sans Flex Medium"/>
                <a:cs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pic>
        <p:nvPic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758E40B-D921-41D6-9D49-B189082FEB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44ab09b6ec48c0"/>
          <a:stretch xmlns:a="http://schemas.openxmlformats.org/drawingml/2006/main"/>
        </p:blipFill>
        <p:spPr>
          <a:xfrm xmlns:a="http://schemas.openxmlformats.org/drawingml/2006/main">
            <a:off x="537663" y="1428750"/>
            <a:ext cx="3668123" cy="3333750"/>
          </a:xfrm>
          <a:prstGeom xmlns:a="http://schemas.openxmlformats.org/drawingml/2006/main" prst="rect">
            <a:avLst/>
          </a:prstGeom>
        </p:spPr>
      </p:pic>
      <p:pic>
        <p:nvPic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598A082C-F677-4812-8F82-EACAE8624A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ae7ef722414c4d"/>
          <a:stretch xmlns:a="http://schemas.openxmlformats.org/drawingml/2006/main"/>
        </p:blipFill>
        <p:spPr>
          <a:xfrm xmlns:a="http://schemas.openxmlformats.org/drawingml/2006/main">
            <a:off x="4848658" y="1428750"/>
            <a:ext cx="3685309" cy="3333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63581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0" name="Google Shape;140;p24">
            <a:extLst xmlns:a="http://schemas.openxmlformats.org/drawingml/2006/main">
              <a:ext uri="{FF2B5EF4-FFF2-40B4-BE49-F238E27FC236}">
                <a16:creationId xmlns:a16="http://schemas.microsoft.com/office/drawing/2014/main" id="{CB7DEC22-DF6A-4542-A80D-965FFB39E2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9370a3eb69b486f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1" name="Google Shape;141;p24">
            <a:extLst xmlns:a="http://schemas.openxmlformats.org/drawingml/2006/main">
              <a:ext uri="{FF2B5EF4-FFF2-40B4-BE49-F238E27FC236}">
                <a16:creationId xmlns:a16="http://schemas.microsoft.com/office/drawing/2014/main" id="{5CA6DBF6-C77B-499F-9BE0-AEBDF8341F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37ad1f5860468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2" name="Google Shape;142;p24">
            <a:extLst xmlns:a="http://schemas.openxmlformats.org/drawingml/2006/main">
              <a:ext uri="{FF2B5EF4-FFF2-40B4-BE49-F238E27FC236}">
                <a16:creationId xmlns:a16="http://schemas.microsoft.com/office/drawing/2014/main" id="{B061A4E9-F460-4B8F-8313-D119700C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>
            <a:extLst xmlns:a="http://schemas.openxmlformats.org/drawingml/2006/main">
              <a:ext uri="{FF2B5EF4-FFF2-40B4-BE49-F238E27FC236}">
                <a16:creationId xmlns:a16="http://schemas.microsoft.com/office/drawing/2014/main" id="{745F4C66-5672-45D8-BC54-9ED0981C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Google Sans Flex Medium"/>
                <a:ea typeface="Google Sans Flex Medium"/>
                <a:cs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6EA66C69-C238-4F49-9995-E1370A75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76375"/>
            <a:ext cx="830580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Selected live cases: supported historical caption; contradicted caption on the same image; unresolved assertion with no evidence; source-injection attempt.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Four exact repeats: zero additional model calls.</a:t>
            </a:r>
          </a:p>
          <a:p xmlns:a="http://schemas.openxmlformats.org/drawingml/2006/main">
            <a:pPr>
              <a:def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Local fresh runs: 3.3–25.9 s; local reuse: 1.0–21.0 ms.</a:t>
            </a:r>
          </a:p>
          <a:p xmlns:a="http://schemas.openxmlformats.org/drawingml/2006/main">
            <a:pPr>
              <a:def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Hosted queued run: 10.531 s; Firestore reuse: 104.5 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36 Python + 23 JavaScript tests. Provider failures and one incidental temporal wording error are documented. No accuracy percentage is claimed.</a:t>
            </a:r>
          </a:p>
        </p:txBody>
      </p:sp>
    </p:spTree>
    <p:extLst>
      <p:ext uri="{BB962C8B-B14F-4D97-AF65-F5344CB8AC3E}">
        <p14:creationId xmlns:p14="http://schemas.microsoft.com/office/powerpoint/2010/main" val="47195905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8" name="Google Shape;148;p25">
            <a:extLst xmlns:a="http://schemas.openxmlformats.org/drawingml/2006/main">
              <a:ext uri="{FF2B5EF4-FFF2-40B4-BE49-F238E27FC236}">
                <a16:creationId xmlns:a16="http://schemas.microsoft.com/office/drawing/2014/main" id="{4CC3247C-FDC6-42BD-849E-61B6A844D1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da9fff738234e8c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9" name="Google Shape;149;p25">
            <a:extLst xmlns:a="http://schemas.openxmlformats.org/drawingml/2006/main">
              <a:ext uri="{FF2B5EF4-FFF2-40B4-BE49-F238E27FC236}">
                <a16:creationId xmlns:a16="http://schemas.microsoft.com/office/drawing/2014/main" id="{A015126C-C1EC-4B59-93E8-7D2ED17484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ff1874a9f44cd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0" name="Google Shape;150;p25">
            <a:extLst xmlns:a="http://schemas.openxmlformats.org/drawingml/2006/main">
              <a:ext uri="{FF2B5EF4-FFF2-40B4-BE49-F238E27FC236}">
                <a16:creationId xmlns:a16="http://schemas.microsoft.com/office/drawing/2014/main" id="{690B2770-03E5-4C3A-90FE-AFD138BA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>
            <a:extLst xmlns:a="http://schemas.openxmlformats.org/drawingml/2006/main">
              <a:ext uri="{FF2B5EF4-FFF2-40B4-BE49-F238E27FC236}">
                <a16:creationId xmlns:a16="http://schemas.microsoft.com/office/drawing/2014/main" id="{EF2B1CF8-AD18-44B2-9719-5E15D169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Google Sans Flex Medium"/>
                <a:ea typeface="Google Sans Flex Medium"/>
                <a:cs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901CBF2C-0A4A-4405-A394-82570576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76375"/>
            <a:ext cx="830580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Current limits: X and single-image posts only. No watermark detector, C2PA validation, video analysis or semantic claim reuse.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Same-model critique can miss mistakes; report links and explicit uncertainty remain essential.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Next work: larger labeled evaluation with independent reviewers, broader logged-in X coverage, fingerprint-only lookup and an Instagram-specific adapter.</a:t>
            </a:r>
          </a:p>
        </p:txBody>
      </p:sp>
    </p:spTree>
    <p:extLst>
      <p:ext uri="{BB962C8B-B14F-4D97-AF65-F5344CB8AC3E}">
        <p14:creationId xmlns:p14="http://schemas.microsoft.com/office/powerpoint/2010/main" val="148856135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6" name="Google Shape;156;p26">
            <a:extLst xmlns:a="http://schemas.openxmlformats.org/drawingml/2006/main">
              <a:ext uri="{FF2B5EF4-FFF2-40B4-BE49-F238E27FC236}">
                <a16:creationId xmlns:a16="http://schemas.microsoft.com/office/drawing/2014/main" id="{4165D1BE-9A38-4208-AA6D-B7C932B6A0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c031c8d9484459f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7" name="Google Shape;157;p26">
            <a:extLst xmlns:a="http://schemas.openxmlformats.org/drawingml/2006/main">
              <a:ext uri="{FF2B5EF4-FFF2-40B4-BE49-F238E27FC236}">
                <a16:creationId xmlns:a16="http://schemas.microsoft.com/office/drawing/2014/main" id="{A42F1D39-C4F7-494A-8447-F18CB34049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1ba9ca4b0a4b3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8" name="Google Shape;158;p26">
            <a:extLst xmlns:a="http://schemas.openxmlformats.org/drawingml/2006/main">
              <a:ext uri="{FF2B5EF4-FFF2-40B4-BE49-F238E27FC236}">
                <a16:creationId xmlns:a16="http://schemas.microsoft.com/office/drawing/2014/main" id="{5C9FF7EA-08BA-48DD-89F2-28218F98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>
            <a:extLst xmlns:a="http://schemas.openxmlformats.org/drawingml/2006/main">
              <a:ext uri="{FF2B5EF4-FFF2-40B4-BE49-F238E27FC236}">
                <a16:creationId xmlns:a16="http://schemas.microsoft.com/office/drawing/2014/main" id="{33ECE2DE-A62C-4605-82AB-B41AB6A1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66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9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9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Project links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47A9E33A-7C30-49D9-8D2A-D04868D5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76375"/>
            <a:ext cx="830580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Public repository</a:t>
            </a:r>
          </a:p>
          <a:p xmlns:a="http://schemas.openxmlformats.org/drawingml/2006/main">
            <a:pPr>
              <a:def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https://github.com/htg2704/proofmesh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Demo video (3 minutes 20 seconds)</a:t>
            </a:r>
          </a:p>
          <a:p xmlns:a="http://schemas.openxmlformats.org/drawingml/2006/main">
            <a:pPr>
              <a:def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https://proofmesh-2god3tua3a-el.a.run.app/assets/demo.mp4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Working prototype</a:t>
            </a:r>
          </a:p>
          <a:p xmlns:a="http://schemas.openxmlformats.org/drawingml/2006/main">
            <a:pPr>
              <a:def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https://proofmesh-2god3tua3a-el.a.run.app/</a:t>
            </a:r>
          </a:p>
        </p:txBody>
      </p:sp>
    </p:spTree>
    <p:extLst>
      <p:ext uri="{BB962C8B-B14F-4D97-AF65-F5344CB8AC3E}">
        <p14:creationId xmlns:p14="http://schemas.microsoft.com/office/powerpoint/2010/main" val="173964986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4" name="Google Shape;164;p27">
            <a:extLst xmlns:a="http://schemas.openxmlformats.org/drawingml/2006/main">
              <a:ext uri="{FF2B5EF4-FFF2-40B4-BE49-F238E27FC236}">
                <a16:creationId xmlns:a16="http://schemas.microsoft.com/office/drawing/2014/main" id="{827CA199-1F38-4CB9-B1AE-F445924015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df456b15bbd4178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5" name="Google Shape;165;p27">
            <a:extLst xmlns:a="http://schemas.openxmlformats.org/drawingml/2006/main">
              <a:ext uri="{FF2B5EF4-FFF2-40B4-BE49-F238E27FC236}">
                <a16:creationId xmlns:a16="http://schemas.microsoft.com/office/drawing/2014/main" id="{4E476057-B083-456B-B772-E5E8ABA2AE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47c160aa824d7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6" name="Google Shape;166;p27">
            <a:extLst xmlns:a="http://schemas.openxmlformats.org/drawingml/2006/main">
              <a:ext uri="{FF2B5EF4-FFF2-40B4-BE49-F238E27FC236}">
                <a16:creationId xmlns:a16="http://schemas.microsoft.com/office/drawing/2014/main" id="{9AB4E867-B0D8-4373-8ED3-BA4C6BA7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206DDB4F-34D6-49C6-A25B-617DF0F9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95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Evidence and evaluation notes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EDF981EE-37BA-4015-9644-5AF1B18C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76375"/>
            <a:ext cx="830580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Primary historical reference</a:t>
            </a:r>
          </a:p>
          <a:p xmlns:a="http://schemas.openxmlformats.org/drawingml/2006/main">
            <a:pPr>
              <a:def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science.nasa.gov/resource/apollo-8s-iconic-earthrise/</a:t>
            </a:r>
          </a:p>
          <a:p xmlns:a="http://schemas.openxmlformats.org/drawingml/2006/main">
            <a:pPr>
              <a:def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Image credit: NASA/Bill Anders; educational example, no endorsement.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AI assessments are ProofMesh outputs. The misleading-caption recorded case includes a QA note identifying an incidental mission-date wording error.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Full methodology and limits: docs/EVALUATION.md in the repository.</a:t>
            </a:r>
          </a:p>
          <a:p xmlns:a="http://schemas.openxmlformats.org/drawingml/2006/main">
            <a:pPr>
              <a:def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Public cases are recorded runs; viewing them makes no inference calls.</a:t>
            </a:r>
          </a:p>
        </p:txBody>
      </p:sp>
    </p:spTree>
    <p:extLst>
      <p:ext uri="{BB962C8B-B14F-4D97-AF65-F5344CB8AC3E}">
        <p14:creationId xmlns:p14="http://schemas.microsoft.com/office/powerpoint/2010/main" val="189366543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1" name="Google Shape;171;p28">
            <a:extLst xmlns:a="http://schemas.openxmlformats.org/drawingml/2006/main">
              <a:ext uri="{FF2B5EF4-FFF2-40B4-BE49-F238E27FC236}">
                <a16:creationId xmlns:a16="http://schemas.microsoft.com/office/drawing/2014/main" id="{80549C8D-627C-4EEA-9287-C8CBCB76A7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b63c8f9768c4d3c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2" name="Google Shape;172;p28">
            <a:extLst xmlns:a="http://schemas.openxmlformats.org/drawingml/2006/main">
              <a:ext uri="{FF2B5EF4-FFF2-40B4-BE49-F238E27FC236}">
                <a16:creationId xmlns:a16="http://schemas.microsoft.com/office/drawing/2014/main" id="{35B7CAA3-4474-4EF3-A043-51E9D5A720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3265f5be49421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1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698923537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2026-10-17T09:42:31.5710000Z</dcterms:created>
  <dcterms:modified xsi:type="dcterms:W3CDTF">2026-10-17T09:42:31.5710000Z</dcterms:modified>
</coreProperties>
</file>