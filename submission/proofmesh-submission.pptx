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00af6ffa934e18" /><Relationship Type="http://schemas.openxmlformats.org/officeDocument/2006/relationships/extended-properties" Target="/docProps/app.xml" Id="Rc51882c74241453b" /><Relationship Type="http://schemas.openxmlformats.org/officeDocument/2006/relationships/officeDocument" Target="/ppt/presentation.xml" Id="R41c48ca8aeb34c44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4a587691a506493e"/>
  </p:sldMasterIdLst>
  <p:notesMasterIdLst>
    <p:notesMasterId xmlns:r="http://schemas.openxmlformats.org/officeDocument/2006/relationships" r:id="R7cbb0ff96142459c"/>
  </p:notesMasterIdLst>
  <p:sldIdLst>
    <p:sldId xmlns:r="http://schemas.openxmlformats.org/officeDocument/2006/relationships" id="256" r:id="Rba1e49dfa4a74021"/>
    <p:sldId xmlns:r="http://schemas.openxmlformats.org/officeDocument/2006/relationships" id="257" r:id="R04dea68851ac4e81"/>
    <p:sldId xmlns:r="http://schemas.openxmlformats.org/officeDocument/2006/relationships" id="258" r:id="Rc9442da4c77f4ce9"/>
    <p:sldId xmlns:r="http://schemas.openxmlformats.org/officeDocument/2006/relationships" id="259" r:id="Rbd4591e6c72b4d9b"/>
    <p:sldId xmlns:r="http://schemas.openxmlformats.org/officeDocument/2006/relationships" id="260" r:id="R3aff78f9aff34e25"/>
    <p:sldId xmlns:r="http://schemas.openxmlformats.org/officeDocument/2006/relationships" id="261" r:id="Rb956b8b2936f413f"/>
    <p:sldId xmlns:r="http://schemas.openxmlformats.org/officeDocument/2006/relationships" id="262" r:id="Rb28babbb04404004"/>
    <p:sldId xmlns:r="http://schemas.openxmlformats.org/officeDocument/2006/relationships" id="263" r:id="R3db1934ab7844e34"/>
    <p:sldId xmlns:r="http://schemas.openxmlformats.org/officeDocument/2006/relationships" id="264" r:id="Ra558ef87c05b47be"/>
    <p:sldId xmlns:r="http://schemas.openxmlformats.org/officeDocument/2006/relationships" id="265" r:id="R6f12ae3ecd584bf9"/>
    <p:sldId xmlns:r="http://schemas.openxmlformats.org/officeDocument/2006/relationships" id="266" r:id="R8521e92b96d345d0"/>
    <p:sldId xmlns:r="http://schemas.openxmlformats.org/officeDocument/2006/relationships" id="267" r:id="R0093384f7a4b4e7e"/>
    <p:sldId xmlns:r="http://schemas.openxmlformats.org/officeDocument/2006/relationships" id="268" r:id="R9bff6269d9a147ed"/>
    <p:sldId xmlns:r="http://schemas.openxmlformats.org/officeDocument/2006/relationships" id="269" r:id="R5829e86373e9433b"/>
    <p:sldId xmlns:r="http://schemas.openxmlformats.org/officeDocument/2006/relationships" id="270" r:id="R553af9082e75475f"/>
  </p:sldIdLst>
  <p:sldSz cx="9144000" cy="5143500"/>
  <p:notesSz cx="6858000" cy="9144000"/>
  <p:embeddedFontLst>
    <p:embeddedFont>
      <p:font typeface="Google Sans Flex Medium"/>
      <p:regular xmlns:r="http://schemas.openxmlformats.org/officeDocument/2006/relationships" r:id="R80eebce4e5d440c2"/>
      <p:bold xmlns:r="http://schemas.openxmlformats.org/officeDocument/2006/relationships" r:id="Rabac75449eb9409c"/>
    </p:embeddedFont>
    <p:embeddedFont>
      <p:font typeface="Google Sans Flex"/>
      <p:regular xmlns:r="http://schemas.openxmlformats.org/officeDocument/2006/relationships" r:id="R5bf4229244ed4611"/>
      <p:bold xmlns:r="http://schemas.openxmlformats.org/officeDocument/2006/relationships" r:id="Ra6f82322f48d4b43"/>
    </p:embeddedFont>
    <p:embeddedFont>
      <p:font typeface="Google Sans Flex SemiBold"/>
      <p:regular xmlns:r="http://schemas.openxmlformats.org/officeDocument/2006/relationships" r:id="R9c7826d84a64473e"/>
      <p:bold xmlns:r="http://schemas.openxmlformats.org/officeDocument/2006/relationships" r:id="R04c32cfcf5984e1f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249dcec790a454e" /><Relationship Type="http://schemas.openxmlformats.org/officeDocument/2006/relationships/slideMaster" Target="/ppt/slideMasters/slideMaster1.xml" Id="R4a587691a506493e" /><Relationship Type="http://schemas.openxmlformats.org/officeDocument/2006/relationships/notesMaster" Target="/ppt/notesMasters/notesMaster1.xml" Id="R7cbb0ff96142459c" /><Relationship Type="http://schemas.openxmlformats.org/officeDocument/2006/relationships/presProps" Target="/ppt/presProps.xml" Id="R76b6205c021043d8" /><Relationship Type="http://schemas.openxmlformats.org/officeDocument/2006/relationships/viewProps" Target="/ppt/viewProps.xml" Id="Recdd707e97bc4ad9" /><Relationship Type="http://schemas.openxmlformats.org/officeDocument/2006/relationships/tableStyles" Target="/ppt/tableStyles.xml" Id="Rd27af179964e413f" /><Relationship Type="http://schemas.openxmlformats.org/officeDocument/2006/relationships/font" Target="/ppt/fonts/font.dat" Id="R80eebce4e5d440c2" /><Relationship Type="http://schemas.openxmlformats.org/officeDocument/2006/relationships/font" Target="/ppt/fonts/font2.dat" Id="Rabac75449eb9409c" /><Relationship Type="http://schemas.openxmlformats.org/officeDocument/2006/relationships/font" Target="/ppt/fonts/font3.dat" Id="R5bf4229244ed4611" /><Relationship Type="http://schemas.openxmlformats.org/officeDocument/2006/relationships/font" Target="/ppt/fonts/font4.dat" Id="Ra6f82322f48d4b43" /><Relationship Type="http://schemas.openxmlformats.org/officeDocument/2006/relationships/font" Target="/ppt/fonts/font5.dat" Id="R9c7826d84a64473e" /><Relationship Type="http://schemas.openxmlformats.org/officeDocument/2006/relationships/font" Target="/ppt/fonts/font6.dat" Id="R04c32cfcf5984e1f" /><Relationship Type="http://schemas.openxmlformats.org/officeDocument/2006/relationships/slide" Target="/ppt/slides/slide1.xml" Id="Rba1e49dfa4a74021" /><Relationship Type="http://schemas.openxmlformats.org/officeDocument/2006/relationships/slide" Target="/ppt/slides/slide2.xml" Id="R04dea68851ac4e81" /><Relationship Type="http://schemas.openxmlformats.org/officeDocument/2006/relationships/slide" Target="/ppt/slides/slide3.xml" Id="Rc9442da4c77f4ce9" /><Relationship Type="http://schemas.openxmlformats.org/officeDocument/2006/relationships/slide" Target="/ppt/slides/slide4.xml" Id="Rbd4591e6c72b4d9b" /><Relationship Type="http://schemas.openxmlformats.org/officeDocument/2006/relationships/slide" Target="/ppt/slides/slide5.xml" Id="R3aff78f9aff34e25" /><Relationship Type="http://schemas.openxmlformats.org/officeDocument/2006/relationships/slide" Target="/ppt/slides/slide6.xml" Id="Rb956b8b2936f413f" /><Relationship Type="http://schemas.openxmlformats.org/officeDocument/2006/relationships/slide" Target="/ppt/slides/slide7.xml" Id="Rb28babbb04404004" /><Relationship Type="http://schemas.openxmlformats.org/officeDocument/2006/relationships/slide" Target="/ppt/slides/slide8.xml" Id="R3db1934ab7844e34" /><Relationship Type="http://schemas.openxmlformats.org/officeDocument/2006/relationships/slide" Target="/ppt/slides/slide9.xml" Id="Ra558ef87c05b47be" /><Relationship Type="http://schemas.openxmlformats.org/officeDocument/2006/relationships/slide" Target="/ppt/slides/slide10.xml" Id="R6f12ae3ecd584bf9" /><Relationship Type="http://schemas.openxmlformats.org/officeDocument/2006/relationships/slide" Target="/ppt/slides/slide11.xml" Id="R8521e92b96d345d0" /><Relationship Type="http://schemas.openxmlformats.org/officeDocument/2006/relationships/slide" Target="/ppt/slides/slide12.xml" Id="R0093384f7a4b4e7e" /><Relationship Type="http://schemas.openxmlformats.org/officeDocument/2006/relationships/slide" Target="/ppt/slides/slide13.xml" Id="R9bff6269d9a147ed" /><Relationship Type="http://schemas.openxmlformats.org/officeDocument/2006/relationships/slide" Target="/ppt/slides/slide14.xml" Id="R5829e86373e9433b" /><Relationship Type="http://schemas.openxmlformats.org/officeDocument/2006/relationships/slide" Target="/ppt/slides/slide15.xml" Id="R553af9082e7547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cb78e3076e44a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d253d22d98e4e56" /><Relationship Type="http://schemas.openxmlformats.org/officeDocument/2006/relationships/notesMaster" Target="/ppt/notesMasters/notesMaster1.xml" Id="R65cd8efd886e4c9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f74b67bdc64464" /><Relationship Type="http://schemas.openxmlformats.org/officeDocument/2006/relationships/notesMaster" Target="/ppt/notesMasters/notesMaster1.xml" Id="R2a54ee199fd94b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5fa0e98a3d44a5a" /><Relationship Type="http://schemas.openxmlformats.org/officeDocument/2006/relationships/notesMaster" Target="/ppt/notesMasters/notesMaster1.xml" Id="Rf3d60228e3f940d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ad62102ff443bb" /><Relationship Type="http://schemas.openxmlformats.org/officeDocument/2006/relationships/notesMaster" Target="/ppt/notesMasters/notesMaster1.xml" Id="R9f3e4399bbd5417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e73279706444203" /><Relationship Type="http://schemas.openxmlformats.org/officeDocument/2006/relationships/notesMaster" Target="/ppt/notesMasters/notesMaster1.xml" Id="Rd2edce30652349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85167d6e7c84e84" /><Relationship Type="http://schemas.openxmlformats.org/officeDocument/2006/relationships/notesMaster" Target="/ppt/notesMasters/notesMaster1.xml" Id="Rc8e5b1c0e127475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9f358c6af684d91" /><Relationship Type="http://schemas.openxmlformats.org/officeDocument/2006/relationships/notesMaster" Target="/ppt/notesMasters/notesMaster1.xml" Id="R3c986a2c4aac4f4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8e243c0c0354d0d" /><Relationship Type="http://schemas.openxmlformats.org/officeDocument/2006/relationships/notesMaster" Target="/ppt/notesMasters/notesMaster1.xml" Id="R182151f409ea4d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9a2083f2854c74" /><Relationship Type="http://schemas.openxmlformats.org/officeDocument/2006/relationships/notesMaster" Target="/ppt/notesMasters/notesMaster1.xml" Id="R1805e674e02247c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89df62a02044807" /><Relationship Type="http://schemas.openxmlformats.org/officeDocument/2006/relationships/notesMaster" Target="/ppt/notesMasters/notesMaster1.xml" Id="R650421440bc74c9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25ab0758b554c37" /><Relationship Type="http://schemas.openxmlformats.org/officeDocument/2006/relationships/notesMaster" Target="/ppt/notesMasters/notesMaster1.xml" Id="R2724239a1c894e7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b09add206e645e2" /><Relationship Type="http://schemas.openxmlformats.org/officeDocument/2006/relationships/notesMaster" Target="/ppt/notesMasters/notesMaster1.xml" Id="Rd826ab1ab8bb421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d9bd2f5e5dc4b40" /><Relationship Type="http://schemas.openxmlformats.org/officeDocument/2006/relationships/notesMaster" Target="/ppt/notesMasters/notesMaster1.xml" Id="R6ba5e35d4042431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32ff908eff04d87" /><Relationship Type="http://schemas.openxmlformats.org/officeDocument/2006/relationships/notesMaster" Target="/ppt/notesMasters/notesMaster1.xml" Id="Rad8fda3ce85d4ad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659f87f8c004717" /><Relationship Type="http://schemas.openxmlformats.org/officeDocument/2006/relationships/notesMaster" Target="/ppt/notesMasters/notesMaster1.xml" Id="Rb183932a48ac43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ProofMesh / Hounds of Singularity. Sources: repository docs/EVALUATION.md, docs/DEPLOYMENT.md, docs/PRODUCT_QA.md, docs/RAIL.md; official AI Builder Cup template preserved. Historical reference: https://science.nasa.gov/resource/apollo-8s-iconic-earthrise/. No claim of NASA endorsement. Working build and measurements verified October 17, 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ProofMesh / Hounds of Singularity. Sources: repository docs/EVALUATION.md, docs/DEPLOYMENT.md, docs/PRODUCT_QA.md, docs/RAIL.md; official AI Builder Cup template preserved. Historical reference: https://science.nasa.gov/resource/apollo-8s-iconic-earthrise/. No claim of NASA endorsement. Working build and measurements verified October 17, 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ProofMesh / Hounds of Singularity. Sources: repository docs/EVALUATION.md, docs/DEPLOYMENT.md, docs/PRODUCT_QA.md, docs/RAIL.md; official AI Builder Cup template preserved. Historical reference: https://science.nasa.gov/resource/apollo-8s-iconic-earthrise/. No claim of NASA endorsement. Working build and measurements verified October 17, 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ProofMesh / Hounds of Singularity. Sources: repository docs/EVALUATION.md, docs/DEPLOYMENT.md, docs/PRODUCT_QA.md, docs/RAIL.md; official AI Builder Cup template preserved. Historical reference: https://science.nasa.gov/resource/apollo-8s-iconic-earthrise/. No claim of NASA endorsement. Working build and measurements verified October 17, 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ProofMesh / Hounds of Singularity. Sources: repository docs/EVALUATION.md, docs/DEPLOYMENT.md, docs/PRODUCT_QA.md, docs/RAIL.md; official AI Builder Cup template preserved. Historical reference: https://science.nasa.gov/resource/apollo-8s-iconic-earthrise/. No claim of NASA endorsement. Working build and measurements verified October 17, 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ProofMesh / Hounds of Singularity. Sources: repository docs/EVALUATION.md, docs/DEPLOYMENT.md, docs/PRODUCT_QA.md, docs/RAIL.md; official AI Builder Cup template preserved. Historical reference: https://science.nasa.gov/resource/apollo-8s-iconic-earthrise/. No claim of NASA endorsement. Working build and measurements verified October 17, 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ProofMesh / Hounds of Singularity. Sources: repository docs/EVALUATION.md, docs/DEPLOYMENT.md, docs/PRODUCT_QA.md, docs/RAIL.md; official AI Builder Cup template preserved. Historical reference: https://science.nasa.gov/resource/apollo-8s-iconic-earthrise/. No claim of NASA endorsement. Working build and measurements verified October 17, 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ProofMesh / Hounds of Singularity. Sources: repository docs/EVALUATION.md, docs/DEPLOYMENT.md, docs/PRODUCT_QA.md, docs/RAIL.md; official AI Builder Cup template preserved. Historical reference: https://science.nasa.gov/resource/apollo-8s-iconic-earthrise/. No claim of NASA endorsement. Working build and measurements verified October 17, 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ProofMesh / Hounds of Singularity. Sources: repository docs/EVALUATION.md, docs/DEPLOYMENT.md, docs/PRODUCT_QA.md, docs/RAIL.md; official AI Builder Cup template preserved. Historical reference: https://science.nasa.gov/resource/apollo-8s-iconic-earthrise/. No claim of NASA endorsement. Working build and measurements verified October 17, 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ProofMesh / Hounds of Singularity. Sources: repository docs/EVALUATION.md, docs/DEPLOYMENT.md, docs/PRODUCT_QA.md, docs/RAIL.md; official AI Builder Cup template preserved. Historical reference: https://science.nasa.gov/resource/apollo-8s-iconic-earthrise/. No claim of NASA endorsement. Working build and measurements verified October 17, 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ProofMesh / Hounds of Singularity. Sources: repository docs/EVALUATION.md, docs/DEPLOYMENT.md, docs/PRODUCT_QA.md, docs/RAIL.md; official AI Builder Cup template preserved. Historical reference: https://science.nasa.gov/resource/apollo-8s-iconic-earthrise/. No claim of NASA endorsement. Working build and measurements verified October 17, 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ProofMesh / Hounds of Singularity. Sources: repository docs/EVALUATION.md, docs/DEPLOYMENT.md, docs/PRODUCT_QA.md, docs/RAIL.md; official AI Builder Cup template preserved. Historical reference: https://science.nasa.gov/resource/apollo-8s-iconic-earthrise/. No claim of NASA endorsement. Working build and measurements verified October 17, 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ProofMesh / Hounds of Singularity. Sources: repository docs/EVALUATION.md, docs/DEPLOYMENT.md, docs/PRODUCT_QA.md, docs/RAIL.md; official AI Builder Cup template preserved. Historical reference: https://science.nasa.gov/resource/apollo-8s-iconic-earthrise/. No claim of NASA endorsement. Working build and measurements verified October 17, 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ProofMesh / Hounds of Singularity. Sources: repository docs/EVALUATION.md, docs/DEPLOYMENT.md, docs/PRODUCT_QA.md, docs/RAIL.md; official AI Builder Cup template preserved. Historical reference: https://science.nasa.gov/resource/apollo-8s-iconic-earthrise/. No claim of NASA endorsement. Working build and measurements verified October 17, 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ProofMesh / Hounds of Singularity. Sources: repository docs/EVALUATION.md, docs/DEPLOYMENT.md, docs/PRODUCT_QA.md, docs/RAIL.md; official AI Builder Cup template preserved. Historical reference: https://science.nasa.gov/resource/apollo-8s-iconic-earthrise/. No claim of NASA endorsement. Working build and measurements verified October 17, 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351f3e649547a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cc020d5234481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54310ec737437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948265b919479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7ec0fea605451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1cfece6d8c435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b28fcd89994aa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60beb730e0459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25d0642f6148e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a4bd59d37f47b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b0e8ea368643d6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27D9F1AC-4C0F-4A26-9663-415A76593C8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46A2E7F2-B5F8-4AB5-B48A-D8BE9E1C2C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33457C33-6CE8-46FA-AF1D-A6B2A5B2EF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510DED3D-FCA0-4A4F-9B50-DEAFC5BB59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065BC1F0-B8BA-46DB-A688-E9BCE05D9C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8E54A3E0-7FA8-43C3-9B92-F4DC159235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99618C41-7487-4653-883E-A13AC286A7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2A97EB7B-FF01-46CF-AD13-059E10B862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95C7FE75-5170-4076-9AA5-D0E68F31E9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E28D4B1-E522-4750-A21E-8A224136F9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5AB1B9D7-B6F7-4AA2-AEA1-5647F20AB0D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73C3BFC4-3C0A-4E24-B852-47A502F980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248F807D-EAAC-4171-A8B3-166E9A7FE0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5CEB62DE-F863-42A6-A29A-538BCAEECC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9FA4BC9B-8FEB-47DE-B7DA-FC2A24B758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C2EF4A15-5623-4D01-9AEE-7C0515C90A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23F17D81-3D72-4F6D-ADBD-397B1E690B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13E8AE35-AC56-4EE2-960B-D156BE52B1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C60D2BE4-8724-451E-B27A-5371EEB874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132B2DB1-EA3F-46AD-BBC5-8512A9DA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A914526D-EA0E-41BC-8431-655E0EFC2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FF8A1352-6D8D-4D85-A652-7B03ABDF519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BA7EFE5B-80F9-4EDD-AA82-D41228C120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1AFEC17F-8F59-4B57-B64A-956307BA1A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321B2A48-62D8-4C05-9F4A-0030AEC95A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FCC615BE-E89F-48E2-B9CD-205DC7C984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0C126177-9578-42AB-8B20-201BFCF794DF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CBF9E715-27E6-449B-BDA4-0EDBF5ADEC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4455132F-0296-427C-BD3F-5EEA21417B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9E3C6D56-2A1D-4103-B384-3185C770576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cebaa29823340f7" /><Relationship Type="http://schemas.openxmlformats.org/officeDocument/2006/relationships/slideLayout" Target="/ppt/slideLayouts/slideLayout1.xml" Id="R4cddfb50efaa4f3e" /><Relationship Type="http://schemas.openxmlformats.org/officeDocument/2006/relationships/slideLayout" Target="/ppt/slideLayouts/slideLayout2.xml" Id="R83eba44fe1524829" /><Relationship Type="http://schemas.openxmlformats.org/officeDocument/2006/relationships/slideLayout" Target="/ppt/slideLayouts/slideLayout3.xml" Id="R5e82857883774154" /><Relationship Type="http://schemas.openxmlformats.org/officeDocument/2006/relationships/slideLayout" Target="/ppt/slideLayouts/slideLayout4.xml" Id="R40d80f548ab34c9a" /><Relationship Type="http://schemas.openxmlformats.org/officeDocument/2006/relationships/slideLayout" Target="/ppt/slideLayouts/slideLayout5.xml" Id="R1d34213d8c334560" /><Relationship Type="http://schemas.openxmlformats.org/officeDocument/2006/relationships/slideLayout" Target="/ppt/slideLayouts/slideLayout6.xml" Id="R4aa2ad60ea2f4b72" /><Relationship Type="http://schemas.openxmlformats.org/officeDocument/2006/relationships/slideLayout" Target="/ppt/slideLayouts/slideLayout7.xml" Id="R49205c87789e4980" /><Relationship Type="http://schemas.openxmlformats.org/officeDocument/2006/relationships/slideLayout" Target="/ppt/slideLayouts/slideLayout8.xml" Id="R6c4467d89d5044d5" /><Relationship Type="http://schemas.openxmlformats.org/officeDocument/2006/relationships/slideLayout" Target="/ppt/slideLayouts/slideLayout9.xml" Id="R4d59a4f6d1254ce7" /><Relationship Type="http://schemas.openxmlformats.org/officeDocument/2006/relationships/slideLayout" Target="/ppt/slideLayouts/slideLayout10.xml" Id="R4fb73fa1ebea463c" /><Relationship Type="http://schemas.openxmlformats.org/officeDocument/2006/relationships/slideLayout" Target="/ppt/slideLayouts/slideLayout11.xml" Id="Ra065013416694b77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EB1CDB1C-623A-493F-8218-07A9AFF3CB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995A435C-5C01-43FE-A5F0-4A2E9EB8C6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2E25322F-3516-4898-92CD-3D75054070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ddfb50efaa4f3e"/>
    <p:sldLayoutId xmlns:r="http://schemas.openxmlformats.org/officeDocument/2006/relationships" id="2147483650" r:id="R83eba44fe1524829"/>
    <p:sldLayoutId xmlns:r="http://schemas.openxmlformats.org/officeDocument/2006/relationships" id="2147483651" r:id="R5e82857883774154"/>
    <p:sldLayoutId xmlns:r="http://schemas.openxmlformats.org/officeDocument/2006/relationships" id="2147483652" r:id="R40d80f548ab34c9a"/>
    <p:sldLayoutId xmlns:r="http://schemas.openxmlformats.org/officeDocument/2006/relationships" id="2147483653" r:id="R1d34213d8c334560"/>
    <p:sldLayoutId xmlns:r="http://schemas.openxmlformats.org/officeDocument/2006/relationships" id="2147483654" r:id="R4aa2ad60ea2f4b72"/>
    <p:sldLayoutId xmlns:r="http://schemas.openxmlformats.org/officeDocument/2006/relationships" id="2147483655" r:id="R49205c87789e4980"/>
    <p:sldLayoutId xmlns:r="http://schemas.openxmlformats.org/officeDocument/2006/relationships" id="2147483656" r:id="R6c4467d89d5044d5"/>
    <p:sldLayoutId xmlns:r="http://schemas.openxmlformats.org/officeDocument/2006/relationships" id="2147483657" r:id="R4d59a4f6d1254ce7"/>
    <p:sldLayoutId xmlns:r="http://schemas.openxmlformats.org/officeDocument/2006/relationships" id="2147483658" r:id="R4fb73fa1ebea463c"/>
    <p:sldLayoutId xmlns:r="http://schemas.openxmlformats.org/officeDocument/2006/relationships" id="2147483659" r:id="Ra065013416694b77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ca1bd657ca4e61" /><Relationship Type="http://schemas.openxmlformats.org/officeDocument/2006/relationships/image" Target="/ppt/media/image.png" Id="Rc379ed33f31f4eb8" /><Relationship Type="http://schemas.openxmlformats.org/officeDocument/2006/relationships/image" Target="/ppt/media/image2.png" Id="R97cf6519ee3442a1" /><Relationship Type="http://schemas.openxmlformats.org/officeDocument/2006/relationships/notesSlide" Target="/ppt/notesSlides/notesSlide1.xml" Id="R427a381678b74a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a9c9e289e94523" /><Relationship Type="http://schemas.openxmlformats.org/officeDocument/2006/relationships/image" Target="/ppt/media/image3.png" Id="R2d21f02ed3934912" /><Relationship Type="http://schemas.openxmlformats.org/officeDocument/2006/relationships/notesSlide" Target="/ppt/notesSlides/notesSlide2.xml" Id="R17abe1aec8c746f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25686a9b9243bd" /><Relationship Type="http://schemas.openxmlformats.org/officeDocument/2006/relationships/image" Target="/ppt/media/image2.png" Id="Rd276c49a8b254a3b" /><Relationship Type="http://schemas.openxmlformats.org/officeDocument/2006/relationships/image" Target="/ppt/media/image3.png" Id="R9da6e8b9c7034687" /><Relationship Type="http://schemas.openxmlformats.org/officeDocument/2006/relationships/notesSlide" Target="/ppt/notesSlides/notesSlide3.xml" Id="Rf57f147f4f0d458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454daddc064ada" /><Relationship Type="http://schemas.openxmlformats.org/officeDocument/2006/relationships/image" Target="/ppt/media/image2.png" Id="Re046712c504f47b2" /><Relationship Type="http://schemas.openxmlformats.org/officeDocument/2006/relationships/image" Target="/ppt/media/image3.png" Id="Rd8c66f8182734b3e" /><Relationship Type="http://schemas.openxmlformats.org/officeDocument/2006/relationships/notesSlide" Target="/ppt/notesSlides/notesSlide4.xml" Id="R35d61452003340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28aa66133a46b5" /><Relationship Type="http://schemas.openxmlformats.org/officeDocument/2006/relationships/image" Target="/ppt/media/image2.png" Id="R5672832a08d44f0a" /><Relationship Type="http://schemas.openxmlformats.org/officeDocument/2006/relationships/image" Target="/ppt/media/image3.png" Id="R48153fbb448c4804" /><Relationship Type="http://schemas.openxmlformats.org/officeDocument/2006/relationships/notesSlide" Target="/ppt/notesSlides/notesSlide5.xml" Id="Rabd3b9929fee469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90df3fff9e4aab" /><Relationship Type="http://schemas.openxmlformats.org/officeDocument/2006/relationships/image" Target="/ppt/media/image2.png" Id="R1d446917336c47a7" /><Relationship Type="http://schemas.openxmlformats.org/officeDocument/2006/relationships/image" Target="/ppt/media/image3.png" Id="R9aaf10f0016f4a59" /><Relationship Type="http://schemas.openxmlformats.org/officeDocument/2006/relationships/image" Target="/ppt/media/image.jpeg" Id="R390669126d894581" /><Relationship Type="http://schemas.openxmlformats.org/officeDocument/2006/relationships/notesSlide" Target="/ppt/notesSlides/notesSlide6.xml" Id="R6d22f4a27c2f47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5303eb8e2d402a" /><Relationship Type="http://schemas.openxmlformats.org/officeDocument/2006/relationships/image" Target="/ppt/media/image2.png" Id="R781ef98f3f31432d" /><Relationship Type="http://schemas.openxmlformats.org/officeDocument/2006/relationships/image" Target="/ppt/media/image3.png" Id="Rb5defc6dcb4242a6" /><Relationship Type="http://schemas.openxmlformats.org/officeDocument/2006/relationships/notesSlide" Target="/ppt/notesSlides/notesSlide7.xml" Id="R7a8ceebe45574ca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298250da594415" /><Relationship Type="http://schemas.openxmlformats.org/officeDocument/2006/relationships/image" Target="/ppt/media/image2.png" Id="R96131a907a4f4a81" /><Relationship Type="http://schemas.openxmlformats.org/officeDocument/2006/relationships/image" Target="/ppt/media/image3.png" Id="R43de062007074d90" /><Relationship Type="http://schemas.openxmlformats.org/officeDocument/2006/relationships/notesSlide" Target="/ppt/notesSlides/notesSlide8.xml" Id="Rf4e060b015fd4de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b0b81cc25449cb" /><Relationship Type="http://schemas.openxmlformats.org/officeDocument/2006/relationships/image" Target="/ppt/media/image2.png" Id="R76589d1cdffa46bb" /><Relationship Type="http://schemas.openxmlformats.org/officeDocument/2006/relationships/image" Target="/ppt/media/image3.png" Id="R5666b9db912e4b99" /><Relationship Type="http://schemas.openxmlformats.org/officeDocument/2006/relationships/notesSlide" Target="/ppt/notesSlides/notesSlide9.xml" Id="Reb023093060a4a0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6360d017134f77" /><Relationship Type="http://schemas.openxmlformats.org/officeDocument/2006/relationships/image" Target="/ppt/media/image2.png" Id="R7bd4977342594dbf" /><Relationship Type="http://schemas.openxmlformats.org/officeDocument/2006/relationships/image" Target="/ppt/media/image3.png" Id="Rf4f1f90b2f5b4a67" /><Relationship Type="http://schemas.openxmlformats.org/officeDocument/2006/relationships/image" Target="/ppt/media/image2.jpeg" Id="Re4231efef1e04786" /><Relationship Type="http://schemas.openxmlformats.org/officeDocument/2006/relationships/image" Target="/ppt/media/image3.jpeg" Id="Rfc4408a176114d1d" /><Relationship Type="http://schemas.openxmlformats.org/officeDocument/2006/relationships/notesSlide" Target="/ppt/notesSlides/notesSlide10.xml" Id="R995bdb57663640c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33179690d143e9" /><Relationship Type="http://schemas.openxmlformats.org/officeDocument/2006/relationships/image" Target="/ppt/media/image2.png" Id="R74353f83e80d4e60" /><Relationship Type="http://schemas.openxmlformats.org/officeDocument/2006/relationships/image" Target="/ppt/media/image3.png" Id="R76ef2d99983840b6" /><Relationship Type="http://schemas.openxmlformats.org/officeDocument/2006/relationships/notesSlide" Target="/ppt/notesSlides/notesSlide11.xml" Id="R9847326172f1499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a4abb37dfd4682" /><Relationship Type="http://schemas.openxmlformats.org/officeDocument/2006/relationships/image" Target="/ppt/media/image2.png" Id="R095a388ad9cb41ee" /><Relationship Type="http://schemas.openxmlformats.org/officeDocument/2006/relationships/image" Target="/ppt/media/image3.png" Id="R95ea583ef1914b25" /><Relationship Type="http://schemas.openxmlformats.org/officeDocument/2006/relationships/notesSlide" Target="/ppt/notesSlides/notesSlide12.xml" Id="Rce1d451bb09c4e4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76c20875964c08" /><Relationship Type="http://schemas.openxmlformats.org/officeDocument/2006/relationships/image" Target="/ppt/media/image2.png" Id="R0c8e88abf7a84860" /><Relationship Type="http://schemas.openxmlformats.org/officeDocument/2006/relationships/image" Target="/ppt/media/image3.png" Id="Rb6cf05ca4ead425d" /><Relationship Type="http://schemas.openxmlformats.org/officeDocument/2006/relationships/notesSlide" Target="/ppt/notesSlides/notesSlide13.xml" Id="Re693e648dd5542a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f1f3a3a2c44d43" /><Relationship Type="http://schemas.openxmlformats.org/officeDocument/2006/relationships/image" Target="/ppt/media/image2.png" Id="R89029562fc6f4f1a" /><Relationship Type="http://schemas.openxmlformats.org/officeDocument/2006/relationships/image" Target="/ppt/media/image3.png" Id="R836453d5d73647aa" /><Relationship Type="http://schemas.openxmlformats.org/officeDocument/2006/relationships/notesSlide" Target="/ppt/notesSlides/notesSlide14.xml" Id="R1a09fe06f9de4f6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e85c562fe9488a" /><Relationship Type="http://schemas.openxmlformats.org/officeDocument/2006/relationships/image" Target="/ppt/media/image2.png" Id="Rbd36d59dd8a34779" /><Relationship Type="http://schemas.openxmlformats.org/officeDocument/2006/relationships/image" Target="/ppt/media/image4.png" Id="Rd7bf4ee57cad41d4" /><Relationship Type="http://schemas.openxmlformats.org/officeDocument/2006/relationships/notesSlide" Target="/ppt/notesSlides/notesSlide15.xml" Id="R4979b016537b416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13">
            <a:extLst xmlns:a="http://schemas.openxmlformats.org/drawingml/2006/main">
              <a:ext uri="{FF2B5EF4-FFF2-40B4-BE49-F238E27FC236}">
                <a16:creationId xmlns:a16="http://schemas.microsoft.com/office/drawing/2014/main" id="{EF464361-E72C-4494-B0EC-C8EAD0EA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590" y="2902649"/>
            <a:ext cx="8760047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210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10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210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</a:endParaRPr>
          </a:p>
        </p:txBody>
      </p:sp>
      <p:pic>
        <p:nvPicPr>
          <p:cNvPr id="55" name="Google Shape;55;p13">
            <a:extLst xmlns:a="http://schemas.openxmlformats.org/drawingml/2006/main">
              <a:ext uri="{FF2B5EF4-FFF2-40B4-BE49-F238E27FC236}">
                <a16:creationId xmlns:a16="http://schemas.microsoft.com/office/drawing/2014/main" id="{4C4D2FC7-CA16-42F8-A998-5BF0825575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79ed33f31f4eb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3"/>
            <a:ext cx="9144000" cy="27155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6" name="Google Shape;56;p13">
            <a:extLst xmlns:a="http://schemas.openxmlformats.org/drawingml/2006/main">
              <a:ext uri="{FF2B5EF4-FFF2-40B4-BE49-F238E27FC236}">
                <a16:creationId xmlns:a16="http://schemas.microsoft.com/office/drawing/2014/main" id="{DC376C5F-EBCE-4107-BB7A-1DC6CD6D64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7cf6519ee3442a1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CE8C144-FA2F-46CC-A36F-75AA683D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24250"/>
            <a:ext cx="83058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a. Team name: Hounds of Singularity</a:t>
            </a:r>
          </a:p>
          <a:p xmlns:a="http://schemas.openxmlformats.org/drawingml/2006/main">
            <a:pPr>
              <a:def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b. Team leader name: Harshwardhan Tripathi</a:t>
            </a:r>
          </a:p>
          <a:p xmlns:a="http://schemas.openxmlformats.org/drawingml/2006/main">
            <a:pPr>
              <a:def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c. Problem Statement: Media, Content &amp; Digital Experiences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AFEB6B3-3A39-44E5-B07F-CF65110C1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33925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Team member: Chennika</a:t>
            </a:r>
          </a:p>
        </p:txBody>
      </p:sp>
    </p:spTree>
    <p:extLst>
      <p:ext uri="{BB962C8B-B14F-4D97-AF65-F5344CB8AC3E}">
        <p14:creationId xmlns:p14="http://schemas.microsoft.com/office/powerpoint/2010/main" val="63811401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9" name="Google Shape;69;p15">
            <a:extLst xmlns:a="http://schemas.openxmlformats.org/drawingml/2006/main">
              <a:ext uri="{FF2B5EF4-FFF2-40B4-BE49-F238E27FC236}">
                <a16:creationId xmlns:a16="http://schemas.microsoft.com/office/drawing/2014/main" id="{A8ABDF4F-1B7E-4133-A8C6-A04A923287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21f02ed393491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12AC871A-131C-4458-9322-8FEA57DDF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>
            <a:extLst xmlns:a="http://schemas.openxmlformats.org/drawingml/2006/main">
              <a:ext uri="{FF2B5EF4-FFF2-40B4-BE49-F238E27FC236}">
                <a16:creationId xmlns:a16="http://schemas.microsoft.com/office/drawing/2014/main" id="{FC5FB30D-F974-4B98-9379-AE70B0F7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F64DAE1-4D01-4D6B-89CD-4464E6DC4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76375"/>
            <a:ext cx="83058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The rail keeps media identity separate from what a caption claims.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The web workspace and X extension are its first API clients. Both can retrieve stored evidence; new claims can start durable Google Cloud jobs.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Gemini assesses fetched source quotations and critiques conclusions. Uncertain evidence stays unresolved; media origin remains unknown.</a:t>
            </a:r>
          </a:p>
        </p:txBody>
      </p:sp>
    </p:spTree>
    <p:extLst>
      <p:ext uri="{BB962C8B-B14F-4D97-AF65-F5344CB8AC3E}">
        <p14:creationId xmlns:p14="http://schemas.microsoft.com/office/powerpoint/2010/main" val="10386579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6" name="Google Shape;76;p16">
            <a:extLst xmlns:a="http://schemas.openxmlformats.org/drawingml/2006/main">
              <a:ext uri="{FF2B5EF4-FFF2-40B4-BE49-F238E27FC236}">
                <a16:creationId xmlns:a16="http://schemas.microsoft.com/office/drawing/2014/main" id="{8BBDBC80-0BFB-49F7-956C-74450BA1ED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276c49a8b254a3b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5C7720D5-C4AD-4070-9262-596648FD6A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a6e8b9c7034687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66EA6AEF-46C0-474B-8208-303473E5E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>
            <a:extLst xmlns:a="http://schemas.openxmlformats.org/drawingml/2006/main">
              <a:ext uri="{FF2B5EF4-FFF2-40B4-BE49-F238E27FC236}">
                <a16:creationId xmlns:a16="http://schemas.microsoft.com/office/drawing/2014/main" id="{CE9D6201-979C-49C9-B608-901C907C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6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95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</a:endParaRP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B36BCFB-D2AD-41DD-A0F5-3BA9FF57F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76375"/>
            <a:ext cx="83058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Reusable infrastructure: an investigation should be available wherever the same claim appears, with its context and limitations intact.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Current clients: the web workspace and X extension.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Future consumers could include social apps, Android/Gemini experiences and agents through an MCP adapter. These are proposals, not existing integrations or partnerships.</a:t>
            </a:r>
          </a:p>
        </p:txBody>
      </p:sp>
    </p:spTree>
    <p:extLst>
      <p:ext uri="{BB962C8B-B14F-4D97-AF65-F5344CB8AC3E}">
        <p14:creationId xmlns:p14="http://schemas.microsoft.com/office/powerpoint/2010/main" val="125792233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BE9C1393-E2E1-484D-B931-A7F2B760E4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046712c504f47b2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3E101450-A292-45B8-B198-AFE786620D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c66f8182734b3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238209E2-389D-4E4E-A19F-5F88F63D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>
            <a:extLst xmlns:a="http://schemas.openxmlformats.org/drawingml/2006/main">
              <a:ext uri="{FF2B5EF4-FFF2-40B4-BE49-F238E27FC236}">
                <a16:creationId xmlns:a16="http://schemas.microsoft.com/office/drawing/2014/main" id="{8019590D-1605-4E23-BC5A-8F576675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1DF8010-089C-4714-9343-ED1FF609B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76375"/>
            <a:ext cx="83058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Shared lookup, investigation-job and report APIs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Exact image, caption and publication-context identity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Findings with validated source quotations and context checks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Persistent jobs and isolated reviewer access with reserved allowance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Public recorded examples; explicit failure and uncertainty states</a:t>
            </a:r>
          </a:p>
        </p:txBody>
      </p:sp>
    </p:spTree>
    <p:extLst>
      <p:ext uri="{BB962C8B-B14F-4D97-AF65-F5344CB8AC3E}">
        <p14:creationId xmlns:p14="http://schemas.microsoft.com/office/powerpoint/2010/main" val="136590623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2" name="Google Shape;92;p18">
            <a:extLst xmlns:a="http://schemas.openxmlformats.org/drawingml/2006/main">
              <a:ext uri="{FF2B5EF4-FFF2-40B4-BE49-F238E27FC236}">
                <a16:creationId xmlns:a16="http://schemas.microsoft.com/office/drawing/2014/main" id="{DED83C3F-925B-409B-8B52-06476C5888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672832a08d44f0a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3" name="Google Shape;93;p18">
            <a:extLst xmlns:a="http://schemas.openxmlformats.org/drawingml/2006/main">
              <a:ext uri="{FF2B5EF4-FFF2-40B4-BE49-F238E27FC236}">
                <a16:creationId xmlns:a16="http://schemas.microsoft.com/office/drawing/2014/main" id="{94246BDF-9809-4EE6-BDE5-D69BF98849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153fbb448c480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4" name="Google Shape;94;p18">
            <a:extLst xmlns:a="http://schemas.openxmlformats.org/drawingml/2006/main">
              <a:ext uri="{FF2B5EF4-FFF2-40B4-BE49-F238E27FC236}">
                <a16:creationId xmlns:a16="http://schemas.microsoft.com/office/drawing/2014/main" id="{8CEB7ACC-DC40-4092-B664-C2007CAC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>
            <a:extLst xmlns:a="http://schemas.openxmlformats.org/drawingml/2006/main">
              <a:ext uri="{FF2B5EF4-FFF2-40B4-BE49-F238E27FC236}">
                <a16:creationId xmlns:a16="http://schemas.microsoft.com/office/drawing/2014/main" id="{18BDBF18-5702-4309-B0A2-2DF6AF55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F3C957E-1D0A-4C94-94AF-833686EE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09750"/>
            <a:ext cx="17621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9525">
            <a:solidFill>
              <a:srgbClr val="5F636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Visible post</a:t>
            </a:r>
          </a:p>
          <a:p xmlns:a="http://schemas.openxmlformats.org/drawingml/2006/main">
            <a: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or submission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46C1428-B57A-4B1F-B53A-53E791ADF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905000"/>
            <a:ext cx="361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→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C2E0277-7EB4-47C5-B9FB-2BA39F56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09750"/>
            <a:ext cx="17621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9525">
            <a:solidFill>
              <a:srgbClr val="5F636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Exact context</a:t>
            </a:r>
          </a:p>
          <a:p xmlns:a="http://schemas.openxmlformats.org/drawingml/2006/main">
            <a: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lookup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E57301BC-63EC-4A09-A55B-9E168C8D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905000"/>
            <a:ext cx="361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→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4E481E8-1F8D-4C0C-8CD1-1B86D256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809750"/>
            <a:ext cx="17621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9525">
            <a:solidFill>
              <a:srgbClr val="5F636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Fresh report</a:t>
            </a:r>
          </a:p>
          <a:p xmlns:a="http://schemas.openxmlformats.org/drawingml/2006/main">
            <a: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exists?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53CB478-A662-457E-9B05-78339A55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05000"/>
            <a:ext cx="361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→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77AF62F-7686-4F93-B760-93F0F3D6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809750"/>
            <a:ext cx="17621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9525">
            <a:solidFill>
              <a:srgbClr val="5F636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Reuse report</a:t>
            </a:r>
          </a:p>
          <a:p xmlns:a="http://schemas.openxmlformats.org/drawingml/2006/main">
            <a: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0 model calls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F9E114D7-85BC-4923-A50D-36AF1670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86125"/>
            <a:ext cx="24765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9525">
            <a:solidFill>
              <a:srgbClr val="5F636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No match: stay unverified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8D263288-410A-4712-B506-9FF09598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33750"/>
            <a:ext cx="361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→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8E03E355-BD64-4E54-A26F-C835D9F1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286125"/>
            <a:ext cx="30003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9525">
            <a:solidFill>
              <a:srgbClr val="5F636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User requests investigation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59EE3649-B3ED-4700-B90D-FEA38F7C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333875"/>
            <a:ext cx="828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A matching image does not answer a new caption.</a:t>
            </a:r>
          </a:p>
        </p:txBody>
      </p:sp>
    </p:spTree>
    <p:extLst>
      <p:ext uri="{BB962C8B-B14F-4D97-AF65-F5344CB8AC3E}">
        <p14:creationId xmlns:p14="http://schemas.microsoft.com/office/powerpoint/2010/main" val="58154584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0" name="Google Shape;100;p19">
            <a:extLst xmlns:a="http://schemas.openxmlformats.org/drawingml/2006/main">
              <a:ext uri="{FF2B5EF4-FFF2-40B4-BE49-F238E27FC236}">
                <a16:creationId xmlns:a16="http://schemas.microsoft.com/office/drawing/2014/main" id="{7E7F849F-3013-4944-888C-6113205D47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d446917336c47a7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1" name="Google Shape;101;p19">
            <a:extLst xmlns:a="http://schemas.openxmlformats.org/drawingml/2006/main">
              <a:ext uri="{FF2B5EF4-FFF2-40B4-BE49-F238E27FC236}">
                <a16:creationId xmlns:a16="http://schemas.microsoft.com/office/drawing/2014/main" id="{9CF77DC8-7E39-4974-BF7C-04A7163CC1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af10f0016f4a5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2" name="Google Shape;102;p19">
            <a:extLst xmlns:a="http://schemas.openxmlformats.org/drawingml/2006/main">
              <a:ext uri="{FF2B5EF4-FFF2-40B4-BE49-F238E27FC236}">
                <a16:creationId xmlns:a16="http://schemas.microsoft.com/office/drawing/2014/main" id="{E64F911D-1F8E-43B5-94E1-800C9F9ED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>
            <a:extLst xmlns:a="http://schemas.openxmlformats.org/drawingml/2006/main">
              <a:ext uri="{FF2B5EF4-FFF2-40B4-BE49-F238E27FC236}">
                <a16:creationId xmlns:a16="http://schemas.microsoft.com/office/drawing/2014/main" id="{2F8EFA09-3D0C-44B0-AA63-8BF67C2FE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pic>
        <p:nvPic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59CF23A-3725-49B2-805C-50FFA39060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0669126d894581"/>
          <a:stretch xmlns:a="http://schemas.openxmlformats.org/drawingml/2006/main"/>
        </p:blipFill>
        <p:spPr>
          <a:xfrm xmlns:a="http://schemas.openxmlformats.org/drawingml/2006/main">
            <a:off x="1624999" y="1428750"/>
            <a:ext cx="5894002" cy="3190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91757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8" name="Google Shape;108;p20">
            <a:extLst xmlns:a="http://schemas.openxmlformats.org/drawingml/2006/main">
              <a:ext uri="{FF2B5EF4-FFF2-40B4-BE49-F238E27FC236}">
                <a16:creationId xmlns:a16="http://schemas.microsoft.com/office/drawing/2014/main" id="{3DDDDDDA-3255-447A-92A0-55CA462A5B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81ef98f3f31432d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9" name="Google Shape;109;p20">
            <a:extLst xmlns:a="http://schemas.openxmlformats.org/drawingml/2006/main">
              <a:ext uri="{FF2B5EF4-FFF2-40B4-BE49-F238E27FC236}">
                <a16:creationId xmlns:a16="http://schemas.microsoft.com/office/drawing/2014/main" id="{458520B6-315F-41C5-B9A3-3E3267B7A8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defc6dcb4242a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0" name="Google Shape;110;p20">
            <a:extLst xmlns:a="http://schemas.openxmlformats.org/drawingml/2006/main">
              <a:ext uri="{FF2B5EF4-FFF2-40B4-BE49-F238E27FC236}">
                <a16:creationId xmlns:a16="http://schemas.microsoft.com/office/drawing/2014/main" id="{6777ECCE-8201-4467-90BA-9B4D58FF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>
            <a:extLst xmlns:a="http://schemas.openxmlformats.org/drawingml/2006/main">
              <a:ext uri="{FF2B5EF4-FFF2-40B4-BE49-F238E27FC236}">
                <a16:creationId xmlns:a16="http://schemas.microsoft.com/office/drawing/2014/main" id="{E4446E3D-3F5B-450B-95B6-C6E99B85E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FB3A79B0-BC6C-49C7-BA60-7E2E03623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76375"/>
            <a:ext cx="2952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9525">
            <a:solidFill>
              <a:srgbClr val="5F636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Chrome extension / portal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D772595-BCC9-429D-8D2E-56FC5E15B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1552575"/>
            <a:ext cx="361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→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B43840A1-AA20-4BC9-BF46-427A92F0D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476375"/>
            <a:ext cx="2238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9525">
            <a:solidFill>
              <a:srgbClr val="5F636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Cloud Run API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6F588C79-5DAB-415A-B732-DE00FE08F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52575"/>
            <a:ext cx="361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→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6F962106-B494-482C-B730-4013EE102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76375"/>
            <a:ext cx="1857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9525">
            <a:solidFill>
              <a:srgbClr val="5F636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Firestore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5A997987-81DD-4DC5-9698-9C82F657C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571750"/>
            <a:ext cx="2238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9525">
            <a:solidFill>
              <a:srgbClr val="5F636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Cloud Tasks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DACB1332-8289-4384-B780-D1E44356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47875"/>
            <a:ext cx="428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↓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DD845FF8-37D7-4541-BACD-9AF7780F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143250"/>
            <a:ext cx="428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↓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7D9C2CAB-DE90-431A-B55F-3BAC6C223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667125"/>
            <a:ext cx="2238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9525">
            <a:solidFill>
              <a:srgbClr val="5F636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Cloud Run worker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EC8F05A2-0F17-4646-B6A4-55B34648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19500"/>
            <a:ext cx="300037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9525">
            <a:solidFill>
              <a:srgbClr val="5F636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Vision matching-page leads</a:t>
            </a:r>
          </a:p>
          <a:p xmlns:a="http://schemas.openxmlformats.org/drawingml/2006/main">
            <a: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Gemini + fetched sources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CC1BF9C0-03C7-4E70-8569-3BEE5F6D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33800"/>
            <a:ext cx="38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←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25C3DADD-DBD4-4B3C-A22F-3028E688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19500"/>
            <a:ext cx="185737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9525">
            <a:solidFill>
              <a:srgbClr val="5F6368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Private image bucket</a:t>
            </a:r>
          </a:p>
          <a:p xmlns:a="http://schemas.openxmlformats.org/drawingml/2006/main">
            <a:pPr algn="ctr">
              <a:def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Secret Manager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3853483F-1C01-46C2-A1A5-12CF06D0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33800"/>
            <a:ext cx="361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24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→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E4FE2DA-798E-4633-B76C-4991F9BE5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72000"/>
            <a:ext cx="828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4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Mumbai resources; Gemini global endpoint. Attached service identities.</a:t>
            </a:r>
          </a:p>
        </p:txBody>
      </p:sp>
    </p:spTree>
    <p:extLst>
      <p:ext uri="{BB962C8B-B14F-4D97-AF65-F5344CB8AC3E}">
        <p14:creationId xmlns:p14="http://schemas.microsoft.com/office/powerpoint/2010/main" val="75567455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6" name="Google Shape;116;p21">
            <a:extLst xmlns:a="http://schemas.openxmlformats.org/drawingml/2006/main">
              <a:ext uri="{FF2B5EF4-FFF2-40B4-BE49-F238E27FC236}">
                <a16:creationId xmlns:a16="http://schemas.microsoft.com/office/drawing/2014/main" id="{C45280AE-71F4-460E-8485-A869D15DF8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131a907a4f4a81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7" name="Google Shape;117;p21">
            <a:extLst xmlns:a="http://schemas.openxmlformats.org/drawingml/2006/main">
              <a:ext uri="{FF2B5EF4-FFF2-40B4-BE49-F238E27FC236}">
                <a16:creationId xmlns:a16="http://schemas.microsoft.com/office/drawing/2014/main" id="{4B373DB7-0DF8-4941-898D-8CE5CBEE50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de062007074d9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1">
            <a:extLst xmlns:a="http://schemas.openxmlformats.org/drawingml/2006/main">
              <a:ext uri="{FF2B5EF4-FFF2-40B4-BE49-F238E27FC236}">
                <a16:creationId xmlns:a16="http://schemas.microsoft.com/office/drawing/2014/main" id="{AD8A889E-6DD2-40CE-A9C5-65C97031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>
            <a:extLst xmlns:a="http://schemas.openxmlformats.org/drawingml/2006/main">
              <a:ext uri="{FF2B5EF4-FFF2-40B4-BE49-F238E27FC236}">
                <a16:creationId xmlns:a16="http://schemas.microsoft.com/office/drawing/2014/main" id="{7C5D7F01-681E-42F3-A4E1-A7BC69E9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D0E3BE32-6EAE-41F0-8E07-67850650A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76375"/>
            <a:ext cx="83058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Gemini on Vertex AI: search research, structured assessment and critique</a:t>
            </a:r>
          </a:p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Cloud Vision Web Detection: image matching-page leads</a:t>
            </a:r>
          </a:p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Cloud Firestore: reports, jobs and transactional admission limits</a:t>
            </a:r>
          </a:p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Cloud Run + Cloud Tasks: application and durable work delivery</a:t>
            </a:r>
          </a:p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Cloud Storage + Secret Manager: temporary images and credentials</a:t>
            </a:r>
          </a:p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FastAPI, Python, Chrome Manifest V3, HTML/CSS/JavaScript</a:t>
            </a:r>
          </a:p>
        </p:txBody>
      </p:sp>
    </p:spTree>
    <p:extLst>
      <p:ext uri="{BB962C8B-B14F-4D97-AF65-F5344CB8AC3E}">
        <p14:creationId xmlns:p14="http://schemas.microsoft.com/office/powerpoint/2010/main" val="53727583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4" name="Google Shape;124;p22">
            <a:extLst xmlns:a="http://schemas.openxmlformats.org/drawingml/2006/main">
              <a:ext uri="{FF2B5EF4-FFF2-40B4-BE49-F238E27FC236}">
                <a16:creationId xmlns:a16="http://schemas.microsoft.com/office/drawing/2014/main" id="{D180ABA5-4AB4-4E37-965A-E794960B1D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6589d1cdffa46bb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5" name="Google Shape;125;p22">
            <a:extLst xmlns:a="http://schemas.openxmlformats.org/drawingml/2006/main">
              <a:ext uri="{FF2B5EF4-FFF2-40B4-BE49-F238E27FC236}">
                <a16:creationId xmlns:a16="http://schemas.microsoft.com/office/drawing/2014/main" id="{EB2CD9AE-7A00-4654-A5F0-58685A104D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66b9db912e4b9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6" name="Google Shape;126;p22">
            <a:extLst xmlns:a="http://schemas.openxmlformats.org/drawingml/2006/main">
              <a:ext uri="{FF2B5EF4-FFF2-40B4-BE49-F238E27FC236}">
                <a16:creationId xmlns:a16="http://schemas.microsoft.com/office/drawing/2014/main" id="{DA72AEAF-4B66-46BD-895D-AB5A8FE3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>
            <a:extLst xmlns:a="http://schemas.openxmlformats.org/drawingml/2006/main">
              <a:ext uri="{FF2B5EF4-FFF2-40B4-BE49-F238E27FC236}">
                <a16:creationId xmlns:a16="http://schemas.microsoft.com/office/drawing/2014/main" id="{86A9A23D-4461-4C89-A985-7C89DAEF8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5098DA3D-D247-4202-A364-E18BF6E0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76375"/>
            <a:ext cx="83058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Approved trial-credit budget: US$5 total for bounded 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Twelve-case development evaluation: US$0.994 working estimate, including conservative failed-attempt reserves. Not a billing receipt; some infrastructure costs excluded.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Controls: zero minimum / one maximum instance; four admissions per UTC day and twelve across the live window, with six reserved for reviewers.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No billing upgrade. Alerts and workload limits are not an absolute dollar cap.</a:t>
            </a:r>
          </a:p>
        </p:txBody>
      </p:sp>
    </p:spTree>
    <p:extLst>
      <p:ext uri="{BB962C8B-B14F-4D97-AF65-F5344CB8AC3E}">
        <p14:creationId xmlns:p14="http://schemas.microsoft.com/office/powerpoint/2010/main" val="190428082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2" name="Google Shape;132;p23">
            <a:extLst xmlns:a="http://schemas.openxmlformats.org/drawingml/2006/main">
              <a:ext uri="{FF2B5EF4-FFF2-40B4-BE49-F238E27FC236}">
                <a16:creationId xmlns:a16="http://schemas.microsoft.com/office/drawing/2014/main" id="{FBC2C982-1054-4985-B83C-8A95D25E34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bd4977342594dbf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3" name="Google Shape;133;p23">
            <a:extLst xmlns:a="http://schemas.openxmlformats.org/drawingml/2006/main">
              <a:ext uri="{FF2B5EF4-FFF2-40B4-BE49-F238E27FC236}">
                <a16:creationId xmlns:a16="http://schemas.microsoft.com/office/drawing/2014/main" id="{739B54A1-2B3F-45CF-8527-D223CFC1A1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f1f90b2f5b4a67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4" name="Google Shape;134;p23">
            <a:extLst xmlns:a="http://schemas.openxmlformats.org/drawingml/2006/main">
              <a:ext uri="{FF2B5EF4-FFF2-40B4-BE49-F238E27FC236}">
                <a16:creationId xmlns:a16="http://schemas.microsoft.com/office/drawing/2014/main" id="{7BD38434-D347-47EE-80D5-0F3EFA86D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>
            <a:extLst xmlns:a="http://schemas.openxmlformats.org/drawingml/2006/main">
              <a:ext uri="{FF2B5EF4-FFF2-40B4-BE49-F238E27FC236}">
                <a16:creationId xmlns:a16="http://schemas.microsoft.com/office/drawing/2014/main" id="{269B34D7-B591-48FB-B5D4-948AD9199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pic>
        <p:nvPic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117CFA6B-3398-40CB-B215-CEB6A43D4E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231efef1e04786"/>
          <a:stretch xmlns:a="http://schemas.openxmlformats.org/drawingml/2006/main"/>
        </p:blipFill>
        <p:spPr>
          <a:xfrm xmlns:a="http://schemas.openxmlformats.org/drawingml/2006/main">
            <a:off x="537663" y="1428750"/>
            <a:ext cx="3668123" cy="3333750"/>
          </a:xfrm>
          <a:prstGeom xmlns:a="http://schemas.openxmlformats.org/drawingml/2006/main" prst="rect">
            <a:avLst/>
          </a:prstGeom>
        </p:spPr>
      </p:pic>
      <p:pic>
        <p:nvPic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48BA4AB8-A9B0-4DF3-8E2A-F243C6A9C6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4408a176114d1d"/>
          <a:stretch xmlns:a="http://schemas.openxmlformats.org/drawingml/2006/main"/>
        </p:blipFill>
        <p:spPr>
          <a:xfrm xmlns:a="http://schemas.openxmlformats.org/drawingml/2006/main">
            <a:off x="4848658" y="1428750"/>
            <a:ext cx="3685309" cy="3333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25459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0" name="Google Shape;140;p24">
            <a:extLst xmlns:a="http://schemas.openxmlformats.org/drawingml/2006/main">
              <a:ext uri="{FF2B5EF4-FFF2-40B4-BE49-F238E27FC236}">
                <a16:creationId xmlns:a16="http://schemas.microsoft.com/office/drawing/2014/main" id="{87782506-10B5-4E37-B663-7BBCE770B9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4353f83e80d4e60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1" name="Google Shape;141;p24">
            <a:extLst xmlns:a="http://schemas.openxmlformats.org/drawingml/2006/main">
              <a:ext uri="{FF2B5EF4-FFF2-40B4-BE49-F238E27FC236}">
                <a16:creationId xmlns:a16="http://schemas.microsoft.com/office/drawing/2014/main" id="{267CF3C1-A519-4624-B9B6-B16480CB50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ef2d99983840b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2" name="Google Shape;142;p24">
            <a:extLst xmlns:a="http://schemas.openxmlformats.org/drawingml/2006/main">
              <a:ext uri="{FF2B5EF4-FFF2-40B4-BE49-F238E27FC236}">
                <a16:creationId xmlns:a16="http://schemas.microsoft.com/office/drawing/2014/main" id="{6E273217-C2F8-4BB3-A0ED-3EB13678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>
            <a:extLst xmlns:a="http://schemas.openxmlformats.org/drawingml/2006/main">
              <a:ext uri="{FF2B5EF4-FFF2-40B4-BE49-F238E27FC236}">
                <a16:creationId xmlns:a16="http://schemas.microsoft.com/office/drawing/2014/main" id="{40E7340C-8BF7-4B4A-A2DC-1E3DCC814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E1884DCC-8AF7-42ED-9282-8F357F5B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76375"/>
            <a:ext cx="83058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Twelve prespecified development cases: 11 expected outcomes, nine conclusive findings and three abstentions. A known false flag assertion stayed unresolved after quotation validation failed.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First pass: nine completed; three provider 429 failures. Explicit follow-ups completed all three. Twelve repeats: zero model calls.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47 Python + 27 JavaScript checks pass. Latest hosted reviewer inference hit 429 twice and failed safely. This is not representative detection accuracy.</a:t>
            </a:r>
          </a:p>
        </p:txBody>
      </p:sp>
    </p:spTree>
    <p:extLst>
      <p:ext uri="{BB962C8B-B14F-4D97-AF65-F5344CB8AC3E}">
        <p14:creationId xmlns:p14="http://schemas.microsoft.com/office/powerpoint/2010/main" val="110333267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8" name="Google Shape;148;p25">
            <a:extLst xmlns:a="http://schemas.openxmlformats.org/drawingml/2006/main">
              <a:ext uri="{FF2B5EF4-FFF2-40B4-BE49-F238E27FC236}">
                <a16:creationId xmlns:a16="http://schemas.microsoft.com/office/drawing/2014/main" id="{277D166C-D941-49C7-8724-DD74E37418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95a388ad9cb41ee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8715723F-C2A8-4F7F-9DFD-E213585611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ea583ef1914b25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75DD29A9-E5A5-4FC5-B846-C00FA1FB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72D350F6-90BE-44AE-958F-4D4F38F3B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F3E8ABCE-6878-474F-89FC-70E914DE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76375"/>
            <a:ext cx="83058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Next rail slice: a stable API contract, small SDK and MCP adapter, with explicit permission for paid investigations. Not implemented yet.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A pilot needs tenant isolation, revocable access, report revisions, contribution review and capacity monitoring.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Current limits: single-image X adapter; no Instagram adapter, video analysis, watermark detector or independent fact verification.</a:t>
            </a:r>
          </a:p>
        </p:txBody>
      </p:sp>
    </p:spTree>
    <p:extLst>
      <p:ext uri="{BB962C8B-B14F-4D97-AF65-F5344CB8AC3E}">
        <p14:creationId xmlns:p14="http://schemas.microsoft.com/office/powerpoint/2010/main" val="27531277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6" name="Google Shape;156;p26">
            <a:extLst xmlns:a="http://schemas.openxmlformats.org/drawingml/2006/main">
              <a:ext uri="{FF2B5EF4-FFF2-40B4-BE49-F238E27FC236}">
                <a16:creationId xmlns:a16="http://schemas.microsoft.com/office/drawing/2014/main" id="{D980823A-4258-48E9-A129-DF3DA35790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c8e88abf7a84860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57" name="Google Shape;157;p26">
            <a:extLst xmlns:a="http://schemas.openxmlformats.org/drawingml/2006/main">
              <a:ext uri="{FF2B5EF4-FFF2-40B4-BE49-F238E27FC236}">
                <a16:creationId xmlns:a16="http://schemas.microsoft.com/office/drawing/2014/main" id="{D845A85E-E283-47DC-B64F-18573DC581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cf05ca4ead425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75AA9F6B-7197-4CEF-9CD5-77EE036C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F6902878-8396-42F6-A14C-4C84EC39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6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95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Project links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19D43A9C-3F38-4830-8123-8C6EE52AB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76375"/>
            <a:ext cx="83058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Public repository</a:t>
            </a:r>
          </a:p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https://github.com/htg2704/proofmesh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Demo video (3 minutes 20 seconds)</a:t>
            </a:r>
          </a:p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https://proofmesh-2god3tua3a-el.a.run.app/assets/demo.mp4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Working prototype</a:t>
            </a:r>
          </a:p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https://proofmesh-2god3tua3a-el.a.run.app/</a:t>
            </a:r>
          </a:p>
        </p:txBody>
      </p:sp>
    </p:spTree>
    <p:extLst>
      <p:ext uri="{BB962C8B-B14F-4D97-AF65-F5344CB8AC3E}">
        <p14:creationId xmlns:p14="http://schemas.microsoft.com/office/powerpoint/2010/main" val="95075016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72E69D79-6482-49FE-B079-9097646E0A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029562fc6f4f1a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A3B60498-3AD4-4E0A-9287-B24675537A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6453d5d73647a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9D29ED05-297E-42B0-B87F-87CA9C330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FB3B964A-EF67-4416-90EC-BBF27B57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95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Evidence and evaluation notes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98CB347C-9C08-46A5-A903-2332C9633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76375"/>
            <a:ext cx="83058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Primary references: NASA Earthrise, ISRO Chandrayaan-3, National Capital Authority and the European Union flag page.</a:t>
            </a:r>
          </a:p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Earthrise image credit: NASA/Bill Anders; no endorsement.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Public samples are actual v0.4 recorded outputs. Earlier model errors and provider failures remain documented. Viewing a recorded case makes no inference calls.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</a:rPr>
              <a:t>Method, case labels and limits: docs/EVALUATION.md and evaluation/results-v04.json in the repository.</a:t>
            </a:r>
          </a:p>
        </p:txBody>
      </p:sp>
    </p:spTree>
    <p:extLst>
      <p:ext uri="{BB962C8B-B14F-4D97-AF65-F5344CB8AC3E}">
        <p14:creationId xmlns:p14="http://schemas.microsoft.com/office/powerpoint/2010/main" val="173245891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823DE6A5-4B23-4EF0-ABFC-C8A6511076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d36d59dd8a34779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14882CE3-A6EF-41E8-903E-69CA1965AC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bf4ee57cad41d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1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706169072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2026-10-17T15:00:43.0190000Z</dcterms:created>
  <dcterms:modified xsi:type="dcterms:W3CDTF">2026-10-17T15:00:43.0190000Z</dcterms:modified>
</coreProperties>
</file>